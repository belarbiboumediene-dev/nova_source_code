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fr-D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91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project source code and resources. Hackathon naming and context: https://solanamobile.com/blog/clock-in-the-solana-mobile-hackathon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Product framing based on implemented journey, chapter, lesson, quiz and progress flows in the project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MainActivity.kt, GeneratingActivity.kt, GenerateJourneyRequest.kt, ApiService.kt, JourneyResponse.kt, JourneyMapper.kt.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WelcomeActivity.kt, AuthManager.kt, MainActivity.kt, GeneratingActivity.kt, LessonActivity.kt, QuizActivity.kt, ResultActivity.kt, ChallengeActivity.kt.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RetrofitInstance.kt, ApiService.kt, GenerateJourneyRequest.kt, JourneyResponse.kt. No model/provider is named in the inspected client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ProgressManager.kt, FirebaseProgressManager.kt, AchievementsActivity.kt, LeaderboardActivity.kt, CosmeticsActivity.kt.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AchievementsActivity.kt, SolanaAchievementManager.kt, FirebaseProgressManager.kt, SeekerQuestActivity.kt. The achievement flow creates a Devnet memo transaction and exposes the Explorer link.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activity_main.xml, activity_journey.xml, activity_quiz.xml, activity_achievements.xml and drawable resources. This slide intentionally does not represent the mockups as screenshots.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app/build.gradle.kts, AuthManager.kt, RetrofitInstance.kt, SolanaAchievementManager.kt.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project source, including AchievementsActivity.kt, SolanaAchievementManager.kt, FirebaseProgressManager.kt and SeekerQuestActivity.kt.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Future work proposed in the supplied brief; not represented as present functionality.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Product claims: project source. Hackathon submission materials and event facts: https://solanamobile.com/blog/clock-in-the-solana-mobile-hackathon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70D091A3-3614-4672-9100-DA33C5CF47B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D8FF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F4E62B4-63B8-4314-8DF1-B1651527B5B3}"/>
              </a:ext>
            </a:extLst>
          </p:cNvPr>
          <p:cNvSpPr>
            <a:spLocks noGrp="1"/>
          </p:cNvSpPr>
          <p:nvPr/>
        </p:nvSpPr>
        <p:spPr>
          <a:xfrm>
            <a:off x="685800" y="971550"/>
            <a:ext cx="3429000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7155" lnSpcReduction="10000"/>
          </a:bodyPr>
          <a:lstStyle/>
          <a:p>
            <a:pPr>
              <a:defRPr sz="4350" b="1">
                <a:solidFill>
                  <a:srgbClr val="F5F7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5F7FF"/>
                </a:solidFill>
                <a:latin typeface="Arial"/>
                <a:ea typeface="Arial"/>
                <a:cs typeface="Arial"/>
              </a:rPr>
              <a:t>NOVA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4467DDF-4F26-4C44-A0D4-B86709500FB9}"/>
              </a:ext>
            </a:extLst>
          </p:cNvPr>
          <p:cNvSpPr>
            <a:spLocks noGrp="1"/>
          </p:cNvSpPr>
          <p:nvPr/>
        </p:nvSpPr>
        <p:spPr>
          <a:xfrm>
            <a:off x="685800" y="1638300"/>
            <a:ext cx="4000500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9563" lnSpcReduction="10000"/>
          </a:bodyPr>
          <a:lstStyle/>
          <a:p>
            <a:pPr>
              <a:defRPr sz="3150" b="1">
                <a:solidFill>
                  <a:srgbClr val="00D8FF"/>
                </a:solidFill>
                <a:latin typeface="Arial"/>
                <a:ea typeface="Arial"/>
                <a:cs typeface="Arial"/>
              </a:defRPr>
            </a:pPr>
            <a:r>
              <a:rPr sz="3150" b="1" dirty="0">
                <a:solidFill>
                  <a:srgbClr val="00D8FF"/>
                </a:solidFill>
                <a:latin typeface="Arial"/>
                <a:ea typeface="Arial"/>
                <a:cs typeface="Arial"/>
              </a:rPr>
              <a:t>AI QUEST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51B2AD6-E988-495F-B0DD-8790626E1025}"/>
              </a:ext>
            </a:extLst>
          </p:cNvPr>
          <p:cNvSpPr>
            <a:spLocks noGrp="1"/>
          </p:cNvSpPr>
          <p:nvPr/>
        </p:nvSpPr>
        <p:spPr>
          <a:xfrm>
            <a:off x="685800" y="2390775"/>
            <a:ext cx="59055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100" b="0">
                <a:solidFill>
                  <a:srgbClr val="A9B5D0"/>
                </a:solidFill>
                <a:latin typeface="Arial"/>
                <a:ea typeface="Arial"/>
                <a:cs typeface="Arial"/>
              </a:defRPr>
            </a:pPr>
            <a:r>
              <a:rPr sz="2100" b="0" dirty="0">
                <a:solidFill>
                  <a:srgbClr val="A9B5D0"/>
                </a:solidFill>
                <a:latin typeface="Arial"/>
                <a:ea typeface="Arial"/>
                <a:cs typeface="Arial"/>
              </a:rPr>
              <a:t>Turn your learning goal into a quest.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57278ED-250D-46AE-B412-A89CF2F47E6E}"/>
              </a:ext>
            </a:extLst>
          </p:cNvPr>
          <p:cNvSpPr>
            <a:spLocks noGrp="1"/>
          </p:cNvSpPr>
          <p:nvPr/>
        </p:nvSpPr>
        <p:spPr>
          <a:xfrm>
            <a:off x="685800" y="3209925"/>
            <a:ext cx="6000750" cy="19050"/>
          </a:xfrm>
          <a:prstGeom prst="rect">
            <a:avLst/>
          </a:prstGeom>
          <a:solidFill>
            <a:srgbClr val="283454"/>
          </a:solidFill>
          <a:ln w="0">
            <a:noFill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421B72C-6D5C-4BE3-A962-718697A48A0B}"/>
              </a:ext>
            </a:extLst>
          </p:cNvPr>
          <p:cNvSpPr>
            <a:spLocks noGrp="1"/>
          </p:cNvSpPr>
          <p:nvPr/>
        </p:nvSpPr>
        <p:spPr>
          <a:xfrm>
            <a:off x="685800" y="3505200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185"/>
          </a:bodyPr>
          <a:lstStyle/>
          <a:p>
            <a:pPr>
              <a:defRPr sz="1350" b="0">
                <a:solidFill>
                  <a:srgbClr val="F5F7FF"/>
                </a:solidFill>
                <a:latin typeface="Arial"/>
                <a:ea typeface="Arial"/>
                <a:cs typeface="Arial"/>
              </a:defRPr>
            </a:pPr>
            <a:r>
              <a:rPr sz="1350" b="0" dirty="0">
                <a:solidFill>
                  <a:srgbClr val="F5F7FF"/>
                </a:solidFill>
                <a:latin typeface="Arial"/>
                <a:ea typeface="Arial"/>
                <a:cs typeface="Arial"/>
              </a:rPr>
              <a:t>Android app prototype for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9BCF894-926F-4599-BEF5-C824F827E4CE}"/>
              </a:ext>
            </a:extLst>
          </p:cNvPr>
          <p:cNvSpPr>
            <a:spLocks noGrp="1"/>
          </p:cNvSpPr>
          <p:nvPr/>
        </p:nvSpPr>
        <p:spPr>
          <a:xfrm>
            <a:off x="685800" y="3829050"/>
            <a:ext cx="68580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2348" lnSpcReduction="10000"/>
          </a:bodyPr>
          <a:lstStyle/>
          <a:p>
            <a:pPr>
              <a:defRPr sz="1650" b="1">
                <a:solidFill>
                  <a:srgbClr val="57D4A6"/>
                </a:solidFill>
                <a:latin typeface="Arial"/>
                <a:ea typeface="Arial"/>
                <a:cs typeface="Arial"/>
              </a:defRPr>
            </a:pPr>
            <a:r>
              <a:rPr sz="1650" b="1" dirty="0">
                <a:solidFill>
                  <a:srgbClr val="57D4A6"/>
                </a:solidFill>
                <a:latin typeface="Arial"/>
                <a:ea typeface="Arial"/>
                <a:cs typeface="Arial"/>
              </a:rPr>
              <a:t>CLOCK IN: Solana Mobile Hackathon 2026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E7430AE-D1FA-4EB0-AA94-7222E3501532}"/>
              </a:ext>
            </a:extLst>
          </p:cNvPr>
          <p:cNvSpPr>
            <a:spLocks noGrp="1"/>
          </p:cNvSpPr>
          <p:nvPr/>
        </p:nvSpPr>
        <p:spPr>
          <a:xfrm>
            <a:off x="685800" y="4619625"/>
            <a:ext cx="55245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575" b="0">
                <a:solidFill>
                  <a:srgbClr val="F5F7FF"/>
                </a:solidFill>
                <a:latin typeface="Arial"/>
                <a:ea typeface="Arial"/>
                <a:cs typeface="Arial"/>
              </a:defRPr>
            </a:pPr>
            <a:r>
              <a:rPr sz="1575" b="0" dirty="0">
                <a:solidFill>
                  <a:srgbClr val="F5F7FF"/>
                </a:solidFill>
                <a:latin typeface="Arial"/>
                <a:ea typeface="Arial"/>
                <a:cs typeface="Arial"/>
              </a:rPr>
              <a:t>Personalized learning journeys, game-like progress, and a Seeker Daily Quest on Solana </a:t>
            </a:r>
            <a:r>
              <a:rPr sz="1575" b="0" dirty="0" err="1">
                <a:solidFill>
                  <a:srgbClr val="F5F7FF"/>
                </a:solidFill>
                <a:latin typeface="Arial"/>
                <a:ea typeface="Arial"/>
                <a:cs typeface="Arial"/>
              </a:rPr>
              <a:t>Devnet</a:t>
            </a:r>
            <a:r>
              <a:rPr sz="1575" b="0" dirty="0">
                <a:solidFill>
                  <a:srgbClr val="F5F7FF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C0D9C3E-6E62-402D-B644-138D593AC9BC}"/>
              </a:ext>
            </a:extLst>
          </p:cNvPr>
          <p:cNvSpPr>
            <a:spLocks noGrp="1"/>
          </p:cNvSpPr>
          <p:nvPr/>
        </p:nvSpPr>
        <p:spPr>
          <a:xfrm>
            <a:off x="7867650" y="1028700"/>
            <a:ext cx="2762250" cy="2762250"/>
          </a:xfrm>
          <a:prstGeom prst="roundRect">
            <a:avLst>
              <a:gd name="adj" fmla="val 2759"/>
            </a:avLst>
          </a:prstGeom>
          <a:solidFill>
            <a:srgbClr val="101629"/>
          </a:solidFill>
          <a:ln w="0">
            <a:noFill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75AE5E6-1158-47D2-9FEF-7F04CB96E6F6}"/>
              </a:ext>
            </a:extLst>
          </p:cNvPr>
          <p:cNvSpPr>
            <a:spLocks noGrp="1"/>
          </p:cNvSpPr>
          <p:nvPr/>
        </p:nvSpPr>
        <p:spPr>
          <a:xfrm>
            <a:off x="685800" y="6486525"/>
            <a:ext cx="333375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7500" lnSpcReduction="20000"/>
          </a:bodyPr>
          <a:lstStyle/>
          <a:p>
            <a:pPr>
              <a:defRPr sz="750" b="0">
                <a:solidFill>
                  <a:srgbClr val="A9B5D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9B5D0"/>
                </a:solidFill>
                <a:latin typeface="Arial"/>
                <a:ea typeface="Arial"/>
                <a:cs typeface="Arial"/>
              </a:rPr>
              <a:t>NOVA AI QUEST  |  CLOCK IN 2026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673DF5F-91B3-46AF-A7EA-170033992CE8}"/>
              </a:ext>
            </a:extLst>
          </p:cNvPr>
          <p:cNvSpPr>
            <a:spLocks noGrp="1"/>
          </p:cNvSpPr>
          <p:nvPr/>
        </p:nvSpPr>
        <p:spPr>
          <a:xfrm>
            <a:off x="11144250" y="6486525"/>
            <a:ext cx="36195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7500" lnSpcReduction="20000"/>
          </a:bodyPr>
          <a:lstStyle/>
          <a:p>
            <a:pPr>
              <a:defRPr sz="750" b="0">
                <a:solidFill>
                  <a:srgbClr val="A9B5D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9B5D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2941CA7-523F-B6D0-81DF-3A1A273290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7135" y="869538"/>
            <a:ext cx="3133725" cy="3133725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36BF5ABE-5C7D-4BB2-9FC8-1D39FD0C09A3}"/>
              </a:ext>
            </a:extLst>
          </p:cNvPr>
          <p:cNvSpPr>
            <a:spLocks noGrp="1"/>
          </p:cNvSpPr>
          <p:nvPr/>
        </p:nvSpPr>
        <p:spPr>
          <a:xfrm>
            <a:off x="8096250" y="3823518"/>
            <a:ext cx="22860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3827"/>
          </a:bodyPr>
          <a:lstStyle/>
          <a:p>
            <a:pPr algn="ctr">
              <a:defRPr sz="2025" b="1">
                <a:solidFill>
                  <a:srgbClr val="F5F7FF"/>
                </a:solidFill>
                <a:latin typeface="Arial"/>
                <a:ea typeface="Arial"/>
                <a:cs typeface="Arial"/>
              </a:defRPr>
            </a:pPr>
            <a:r>
              <a:rPr sz="2025" b="1" dirty="0">
                <a:solidFill>
                  <a:schemeClr val="bg2"/>
                </a:solidFill>
                <a:latin typeface="Arial"/>
                <a:ea typeface="Arial"/>
                <a:cs typeface="Arial"/>
              </a:rPr>
              <a:t>NOVA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765401-8B98-42F0-95CC-0ADF2B101B78}"/>
              </a:ext>
            </a:extLst>
          </p:cNvPr>
          <p:cNvSpPr>
            <a:spLocks noGrp="1"/>
          </p:cNvSpPr>
          <p:nvPr/>
        </p:nvSpPr>
        <p:spPr>
          <a:xfrm>
            <a:off x="8096250" y="4174098"/>
            <a:ext cx="2286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7696" lnSpcReduction="10000"/>
          </a:bodyPr>
          <a:lstStyle/>
          <a:p>
            <a:pPr algn="ctr">
              <a:defRPr sz="1275" b="1">
                <a:solidFill>
                  <a:srgbClr val="A9B5D0"/>
                </a:solidFill>
                <a:latin typeface="Arial"/>
                <a:ea typeface="Arial"/>
                <a:cs typeface="Arial"/>
              </a:defRPr>
            </a:pPr>
            <a:r>
              <a:rPr sz="1275" b="1" dirty="0">
                <a:solidFill>
                  <a:schemeClr val="tx2">
                    <a:lumMod val="50000"/>
                    <a:lumOff val="50000"/>
                  </a:schemeClr>
                </a:solidFill>
                <a:latin typeface="Arial"/>
                <a:ea typeface="Arial"/>
                <a:cs typeface="Arial"/>
              </a:rPr>
              <a:t>AI QUEST</a:t>
            </a:r>
          </a:p>
        </p:txBody>
      </p:sp>
    </p:spTree>
    <p:extLst>
      <p:ext uri="{BB962C8B-B14F-4D97-AF65-F5344CB8AC3E}">
        <p14:creationId xmlns:p14="http://schemas.microsoft.com/office/powerpoint/2010/main" val="426042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E82A70A-8418-46AB-AD0B-FF47F44E904A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125" b="1">
                <a:solidFill>
                  <a:srgbClr val="00D8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D8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19F36CE-B4A5-46B6-B681-AB0D2A2296B0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1047750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550" b="1">
                <a:solidFill>
                  <a:srgbClr val="F5F7FF"/>
                </a:solidFill>
                <a:latin typeface="Arial"/>
                <a:ea typeface="Arial"/>
                <a:cs typeface="Arial"/>
              </a:defRPr>
            </a:pPr>
            <a:r>
              <a:rPr sz="2550" b="1" dirty="0">
                <a:solidFill>
                  <a:srgbClr val="F5F7FF"/>
                </a:solidFill>
                <a:latin typeface="Arial"/>
                <a:ea typeface="Arial"/>
                <a:cs typeface="Arial"/>
              </a:rPr>
              <a:t>The learning-path problem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34B23DB-99E2-45BD-8C89-39E37FED6C16}"/>
              </a:ext>
            </a:extLst>
          </p:cNvPr>
          <p:cNvSpPr>
            <a:spLocks noGrp="1"/>
          </p:cNvSpPr>
          <p:nvPr/>
        </p:nvSpPr>
        <p:spPr>
          <a:xfrm>
            <a:off x="685800" y="1333500"/>
            <a:ext cx="100012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275" b="0">
                <a:solidFill>
                  <a:srgbClr val="A9B5D0"/>
                </a:solidFill>
                <a:latin typeface="Arial"/>
                <a:ea typeface="Arial"/>
                <a:cs typeface="Arial"/>
              </a:defRPr>
            </a:pPr>
            <a:r>
              <a:rPr sz="1275" b="0" dirty="0">
                <a:solidFill>
                  <a:srgbClr val="A9B5D0"/>
                </a:solidFill>
                <a:latin typeface="Arial"/>
                <a:ea typeface="Arial"/>
                <a:cs typeface="Arial"/>
              </a:rPr>
              <a:t>Product observations, not market statistics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42F6673-1C5F-4813-8510-D4974AA0BC05}"/>
              </a:ext>
            </a:extLst>
          </p:cNvPr>
          <p:cNvSpPr>
            <a:spLocks noGrp="1"/>
          </p:cNvSpPr>
          <p:nvPr/>
        </p:nvSpPr>
        <p:spPr>
          <a:xfrm>
            <a:off x="876300" y="2333625"/>
            <a:ext cx="95250" cy="95250"/>
          </a:xfrm>
          <a:prstGeom prst="roundRect">
            <a:avLst>
              <a:gd name="adj" fmla="val 50000"/>
            </a:avLst>
          </a:prstGeom>
          <a:solidFill>
            <a:srgbClr val="00D8FF"/>
          </a:solidFill>
          <a:ln w="0">
            <a:noFill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AB3C400-2320-46FE-BC83-D5795DBF4E42}"/>
              </a:ext>
            </a:extLst>
          </p:cNvPr>
          <p:cNvSpPr>
            <a:spLocks noGrp="1"/>
          </p:cNvSpPr>
          <p:nvPr/>
        </p:nvSpPr>
        <p:spPr>
          <a:xfrm>
            <a:off x="1104900" y="2276475"/>
            <a:ext cx="90106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800" b="0">
                <a:solidFill>
                  <a:srgbClr val="F5F7FF"/>
                </a:solidFill>
                <a:latin typeface="Arial"/>
                <a:ea typeface="Arial"/>
                <a:cs typeface="Arial"/>
              </a:defRPr>
            </a:pPr>
            <a:r>
              <a:rPr sz="1800" b="0" dirty="0">
                <a:solidFill>
                  <a:srgbClr val="F5F7FF"/>
                </a:solidFill>
                <a:latin typeface="Arial"/>
                <a:ea typeface="Arial"/>
                <a:cs typeface="Arial"/>
              </a:rPr>
              <a:t>A broad learning goal does not automatically become a structured plan.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531D320-0F1B-4302-BE51-740FD881602A}"/>
              </a:ext>
            </a:extLst>
          </p:cNvPr>
          <p:cNvSpPr>
            <a:spLocks noGrp="1"/>
          </p:cNvSpPr>
          <p:nvPr/>
        </p:nvSpPr>
        <p:spPr>
          <a:xfrm>
            <a:off x="876300" y="3190875"/>
            <a:ext cx="95250" cy="95250"/>
          </a:xfrm>
          <a:prstGeom prst="roundRect">
            <a:avLst>
              <a:gd name="adj" fmla="val 50000"/>
            </a:avLst>
          </a:prstGeom>
          <a:solidFill>
            <a:srgbClr val="00D8FF"/>
          </a:solidFill>
          <a:ln w="0">
            <a:noFill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726B0C4-686C-4419-9557-F66CBA25F8EF}"/>
              </a:ext>
            </a:extLst>
          </p:cNvPr>
          <p:cNvSpPr>
            <a:spLocks noGrp="1"/>
          </p:cNvSpPr>
          <p:nvPr/>
        </p:nvSpPr>
        <p:spPr>
          <a:xfrm>
            <a:off x="1104900" y="3133725"/>
            <a:ext cx="90106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800" b="0">
                <a:solidFill>
                  <a:srgbClr val="F5F7FF"/>
                </a:solidFill>
                <a:latin typeface="Arial"/>
                <a:ea typeface="Arial"/>
                <a:cs typeface="Arial"/>
              </a:defRPr>
            </a:pPr>
            <a:r>
              <a:rPr sz="1800" b="0" dirty="0">
                <a:solidFill>
                  <a:srgbClr val="F5F7FF"/>
                </a:solidFill>
                <a:latin typeface="Arial"/>
                <a:ea typeface="Arial"/>
                <a:cs typeface="Arial"/>
              </a:rPr>
              <a:t>Learning content can feel fragmented when progress lacks a visible path.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3ECA971-48F8-473C-B450-4315943C2171}"/>
              </a:ext>
            </a:extLst>
          </p:cNvPr>
          <p:cNvSpPr>
            <a:spLocks noGrp="1"/>
          </p:cNvSpPr>
          <p:nvPr/>
        </p:nvSpPr>
        <p:spPr>
          <a:xfrm>
            <a:off x="876300" y="4048125"/>
            <a:ext cx="95250" cy="95250"/>
          </a:xfrm>
          <a:prstGeom prst="roundRect">
            <a:avLst>
              <a:gd name="adj" fmla="val 50000"/>
            </a:avLst>
          </a:prstGeom>
          <a:solidFill>
            <a:srgbClr val="00D8FF"/>
          </a:solidFill>
          <a:ln w="0">
            <a:noFill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ABAEEB-0214-4C7D-8E4C-25A51FB374ED}"/>
              </a:ext>
            </a:extLst>
          </p:cNvPr>
          <p:cNvSpPr>
            <a:spLocks noGrp="1"/>
          </p:cNvSpPr>
          <p:nvPr/>
        </p:nvSpPr>
        <p:spPr>
          <a:xfrm>
            <a:off x="1104900" y="3990975"/>
            <a:ext cx="90106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800" b="0">
                <a:solidFill>
                  <a:srgbClr val="F5F7FF"/>
                </a:solidFill>
                <a:latin typeface="Arial"/>
                <a:ea typeface="Arial"/>
                <a:cs typeface="Arial"/>
              </a:defRPr>
            </a:pPr>
            <a:r>
              <a:rPr sz="1800" b="0" dirty="0">
                <a:solidFill>
                  <a:srgbClr val="F5F7FF"/>
                </a:solidFill>
                <a:latin typeface="Arial"/>
                <a:ea typeface="Arial"/>
                <a:cs typeface="Arial"/>
              </a:rPr>
              <a:t>Motivation can fall when feedback and progression arrive too late.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F35997E-C7D0-4521-83ED-3AB0D79141BF}"/>
              </a:ext>
            </a:extLst>
          </p:cNvPr>
          <p:cNvSpPr>
            <a:spLocks noGrp="1"/>
          </p:cNvSpPr>
          <p:nvPr/>
        </p:nvSpPr>
        <p:spPr>
          <a:xfrm>
            <a:off x="876300" y="5286375"/>
            <a:ext cx="97155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8194" lnSpcReduction="10000"/>
          </a:bodyPr>
          <a:lstStyle/>
          <a:p>
            <a:pPr>
              <a:defRPr sz="1800" b="1">
                <a:solidFill>
                  <a:srgbClr val="00D8FF"/>
                </a:solidFill>
                <a:latin typeface="Arial"/>
                <a:ea typeface="Arial"/>
                <a:cs typeface="Arial"/>
              </a:defRPr>
            </a:pPr>
            <a:r>
              <a:rPr sz="1800" b="1" dirty="0">
                <a:solidFill>
                  <a:srgbClr val="00D8FF"/>
                </a:solidFill>
                <a:latin typeface="Arial"/>
                <a:ea typeface="Arial"/>
                <a:cs typeface="Arial"/>
              </a:rPr>
              <a:t>NOVA frames the learning path as a sequence of quests the learner can see and complete.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DC25E24-1DA7-43AA-80CA-6E3792659821}"/>
              </a:ext>
            </a:extLst>
          </p:cNvPr>
          <p:cNvSpPr>
            <a:spLocks noGrp="1"/>
          </p:cNvSpPr>
          <p:nvPr/>
        </p:nvSpPr>
        <p:spPr>
          <a:xfrm>
            <a:off x="685800" y="6486525"/>
            <a:ext cx="333375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7500" lnSpcReduction="20000"/>
          </a:bodyPr>
          <a:lstStyle/>
          <a:p>
            <a:pPr>
              <a:defRPr sz="750" b="0">
                <a:solidFill>
                  <a:srgbClr val="A9B5D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9B5D0"/>
                </a:solidFill>
                <a:latin typeface="Arial"/>
                <a:ea typeface="Arial"/>
                <a:cs typeface="Arial"/>
              </a:rPr>
              <a:t>NOVA AI QUEST  |  CLOCK IN 2026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E4B591D-1FEB-4614-80CD-543DFB1B77E8}"/>
              </a:ext>
            </a:extLst>
          </p:cNvPr>
          <p:cNvSpPr>
            <a:spLocks noGrp="1"/>
          </p:cNvSpPr>
          <p:nvPr/>
        </p:nvSpPr>
        <p:spPr>
          <a:xfrm>
            <a:off x="11144250" y="6486525"/>
            <a:ext cx="36195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7500" lnSpcReduction="20000"/>
          </a:bodyPr>
          <a:lstStyle/>
          <a:p>
            <a:pPr>
              <a:defRPr sz="750" b="0">
                <a:solidFill>
                  <a:srgbClr val="A9B5D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9B5D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8256820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9945BA4F-29D7-461C-B455-79DC69355E42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125" b="1">
                <a:solidFill>
                  <a:srgbClr val="00D8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D8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22FE78E-4D93-4049-A31C-98EAE65DBD4A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1047750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550" b="1">
                <a:solidFill>
                  <a:srgbClr val="F5F7FF"/>
                </a:solidFill>
                <a:latin typeface="Arial"/>
                <a:ea typeface="Arial"/>
                <a:cs typeface="Arial"/>
              </a:defRPr>
            </a:pPr>
            <a:r>
              <a:rPr sz="2550" b="1" dirty="0">
                <a:solidFill>
                  <a:srgbClr val="F5F7FF"/>
                </a:solidFill>
                <a:latin typeface="Arial"/>
                <a:ea typeface="Arial"/>
                <a:cs typeface="Arial"/>
              </a:rPr>
              <a:t>NOVA AI Quest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D11B00B-88E3-4C92-A50C-C257D61453C6}"/>
              </a:ext>
            </a:extLst>
          </p:cNvPr>
          <p:cNvSpPr>
            <a:spLocks noGrp="1"/>
          </p:cNvSpPr>
          <p:nvPr/>
        </p:nvSpPr>
        <p:spPr>
          <a:xfrm>
            <a:off x="685800" y="1333500"/>
            <a:ext cx="100012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275" b="0">
                <a:solidFill>
                  <a:srgbClr val="A9B5D0"/>
                </a:solidFill>
                <a:latin typeface="Arial"/>
                <a:ea typeface="Arial"/>
                <a:cs typeface="Arial"/>
              </a:defRPr>
            </a:pPr>
            <a:r>
              <a:rPr sz="1275" b="0" dirty="0">
                <a:solidFill>
                  <a:srgbClr val="A9B5D0"/>
                </a:solidFill>
                <a:latin typeface="Arial"/>
                <a:ea typeface="Arial"/>
                <a:cs typeface="Arial"/>
              </a:rPr>
              <a:t>A goal becomes a structured learning journey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DF55659-43EB-420D-B3D4-2EE2CDF10D73}"/>
              </a:ext>
            </a:extLst>
          </p:cNvPr>
          <p:cNvSpPr>
            <a:spLocks noGrp="1"/>
          </p:cNvSpPr>
          <p:nvPr/>
        </p:nvSpPr>
        <p:spPr>
          <a:xfrm>
            <a:off x="666750" y="2714625"/>
            <a:ext cx="1571625" cy="762000"/>
          </a:xfrm>
          <a:prstGeom prst="roundRect">
            <a:avLst>
              <a:gd name="adj" fmla="val 10000"/>
            </a:avLst>
          </a:prstGeom>
          <a:solidFill>
            <a:srgbClr val="101629"/>
          </a:solidFill>
          <a:ln w="0">
            <a:noFill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7070BB8-AF84-4D0F-B8F0-CDBBF70241E6}"/>
              </a:ext>
            </a:extLst>
          </p:cNvPr>
          <p:cNvSpPr>
            <a:spLocks noGrp="1"/>
          </p:cNvSpPr>
          <p:nvPr/>
        </p:nvSpPr>
        <p:spPr>
          <a:xfrm>
            <a:off x="809625" y="2905125"/>
            <a:ext cx="1285875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350" b="1">
                <a:solidFill>
                  <a:srgbClr val="F5F7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7FF"/>
                </a:solidFill>
                <a:latin typeface="Arial"/>
                <a:ea typeface="Arial"/>
                <a:cs typeface="Arial"/>
              </a:rPr>
              <a:t>Goal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906F0EE-330B-42EF-A37A-3F0AB10B046A}"/>
              </a:ext>
            </a:extLst>
          </p:cNvPr>
          <p:cNvSpPr>
            <a:spLocks noGrp="1"/>
          </p:cNvSpPr>
          <p:nvPr/>
        </p:nvSpPr>
        <p:spPr>
          <a:xfrm>
            <a:off x="2238375" y="2895600"/>
            <a:ext cx="2667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6667" lnSpcReduction="10000"/>
          </a:bodyPr>
          <a:lstStyle/>
          <a:p>
            <a:pPr>
              <a:defRPr sz="2400" b="1">
                <a:solidFill>
                  <a:srgbClr val="00D8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D8FF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74B18D2-8267-4259-A861-43D874BED5C6}"/>
              </a:ext>
            </a:extLst>
          </p:cNvPr>
          <p:cNvSpPr>
            <a:spLocks noGrp="1"/>
          </p:cNvSpPr>
          <p:nvPr/>
        </p:nvSpPr>
        <p:spPr>
          <a:xfrm>
            <a:off x="2514600" y="2714625"/>
            <a:ext cx="1571625" cy="762000"/>
          </a:xfrm>
          <a:prstGeom prst="roundRect">
            <a:avLst>
              <a:gd name="adj" fmla="val 10000"/>
            </a:avLst>
          </a:prstGeom>
          <a:solidFill>
            <a:srgbClr val="101629"/>
          </a:solidFill>
          <a:ln w="0">
            <a:noFill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3767D35-DB05-4895-86A5-01EF0B00DBEB}"/>
              </a:ext>
            </a:extLst>
          </p:cNvPr>
          <p:cNvSpPr>
            <a:spLocks noGrp="1"/>
          </p:cNvSpPr>
          <p:nvPr/>
        </p:nvSpPr>
        <p:spPr>
          <a:xfrm>
            <a:off x="2657475" y="2905125"/>
            <a:ext cx="1285875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350" b="1">
                <a:solidFill>
                  <a:srgbClr val="F5F7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7FF"/>
                </a:solidFill>
                <a:latin typeface="Arial"/>
                <a:ea typeface="Arial"/>
                <a:cs typeface="Arial"/>
              </a:rPr>
              <a:t>AI backend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F8E8EB3-22DB-4237-8245-374A81F8BEAC}"/>
              </a:ext>
            </a:extLst>
          </p:cNvPr>
          <p:cNvSpPr>
            <a:spLocks noGrp="1"/>
          </p:cNvSpPr>
          <p:nvPr/>
        </p:nvSpPr>
        <p:spPr>
          <a:xfrm>
            <a:off x="4086225" y="2895600"/>
            <a:ext cx="2667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6667" lnSpcReduction="10000"/>
          </a:bodyPr>
          <a:lstStyle/>
          <a:p>
            <a:pPr>
              <a:defRPr sz="2400" b="1">
                <a:solidFill>
                  <a:srgbClr val="00D8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D8FF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63FD6CB-07F0-49E1-995B-872349926AE5}"/>
              </a:ext>
            </a:extLst>
          </p:cNvPr>
          <p:cNvSpPr>
            <a:spLocks noGrp="1"/>
          </p:cNvSpPr>
          <p:nvPr/>
        </p:nvSpPr>
        <p:spPr>
          <a:xfrm>
            <a:off x="4362450" y="2714625"/>
            <a:ext cx="1571625" cy="762000"/>
          </a:xfrm>
          <a:prstGeom prst="roundRect">
            <a:avLst>
              <a:gd name="adj" fmla="val 10000"/>
            </a:avLst>
          </a:prstGeom>
          <a:solidFill>
            <a:srgbClr val="101629"/>
          </a:solidFill>
          <a:ln w="0">
            <a:noFill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552F3AB-071A-458E-BF8B-5AC3D129E08C}"/>
              </a:ext>
            </a:extLst>
          </p:cNvPr>
          <p:cNvSpPr>
            <a:spLocks noGrp="1"/>
          </p:cNvSpPr>
          <p:nvPr/>
        </p:nvSpPr>
        <p:spPr>
          <a:xfrm>
            <a:off x="4505325" y="2905125"/>
            <a:ext cx="1285875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350" b="1">
                <a:solidFill>
                  <a:srgbClr val="F5F7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7FF"/>
                </a:solidFill>
                <a:latin typeface="Arial"/>
                <a:ea typeface="Arial"/>
                <a:cs typeface="Arial"/>
              </a:rPr>
              <a:t>Journey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34F5FFE-6C04-45C3-BE9D-DC2A74199EF2}"/>
              </a:ext>
            </a:extLst>
          </p:cNvPr>
          <p:cNvSpPr>
            <a:spLocks noGrp="1"/>
          </p:cNvSpPr>
          <p:nvPr/>
        </p:nvSpPr>
        <p:spPr>
          <a:xfrm>
            <a:off x="5934075" y="2895600"/>
            <a:ext cx="2667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6667" lnSpcReduction="10000"/>
          </a:bodyPr>
          <a:lstStyle/>
          <a:p>
            <a:pPr>
              <a:defRPr sz="2400" b="1">
                <a:solidFill>
                  <a:srgbClr val="00D8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D8FF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4A66831-8A13-44C6-945A-1BCB510B1F28}"/>
              </a:ext>
            </a:extLst>
          </p:cNvPr>
          <p:cNvSpPr>
            <a:spLocks noGrp="1"/>
          </p:cNvSpPr>
          <p:nvPr/>
        </p:nvSpPr>
        <p:spPr>
          <a:xfrm>
            <a:off x="6210300" y="2714625"/>
            <a:ext cx="1571625" cy="762000"/>
          </a:xfrm>
          <a:prstGeom prst="roundRect">
            <a:avLst>
              <a:gd name="adj" fmla="val 10000"/>
            </a:avLst>
          </a:prstGeom>
          <a:solidFill>
            <a:srgbClr val="101629"/>
          </a:solidFill>
          <a:ln w="0">
            <a:noFill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4C1FCF8-BEE5-4982-8C00-6CC601153C85}"/>
              </a:ext>
            </a:extLst>
          </p:cNvPr>
          <p:cNvSpPr>
            <a:spLocks noGrp="1"/>
          </p:cNvSpPr>
          <p:nvPr/>
        </p:nvSpPr>
        <p:spPr>
          <a:xfrm>
            <a:off x="6353175" y="2905125"/>
            <a:ext cx="1285875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350" b="1">
                <a:solidFill>
                  <a:srgbClr val="F5F7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7FF"/>
                </a:solidFill>
                <a:latin typeface="Arial"/>
                <a:ea typeface="Arial"/>
                <a:cs typeface="Arial"/>
              </a:rPr>
              <a:t>Lessons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2D7BF74-742F-413D-AF4F-68514F04AA1D}"/>
              </a:ext>
            </a:extLst>
          </p:cNvPr>
          <p:cNvSpPr>
            <a:spLocks noGrp="1"/>
          </p:cNvSpPr>
          <p:nvPr/>
        </p:nvSpPr>
        <p:spPr>
          <a:xfrm>
            <a:off x="7781925" y="2895600"/>
            <a:ext cx="2667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6667" lnSpcReduction="10000"/>
          </a:bodyPr>
          <a:lstStyle/>
          <a:p>
            <a:pPr>
              <a:defRPr sz="2400" b="1">
                <a:solidFill>
                  <a:srgbClr val="00D8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D8FF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20364A5-F84A-4CE7-ACBB-0498560DB486}"/>
              </a:ext>
            </a:extLst>
          </p:cNvPr>
          <p:cNvSpPr>
            <a:spLocks noGrp="1"/>
          </p:cNvSpPr>
          <p:nvPr/>
        </p:nvSpPr>
        <p:spPr>
          <a:xfrm>
            <a:off x="8058150" y="2714625"/>
            <a:ext cx="1571625" cy="762000"/>
          </a:xfrm>
          <a:prstGeom prst="roundRect">
            <a:avLst>
              <a:gd name="adj" fmla="val 10000"/>
            </a:avLst>
          </a:prstGeom>
          <a:solidFill>
            <a:srgbClr val="101629"/>
          </a:solidFill>
          <a:ln w="0">
            <a:noFill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638B35E-D5CF-48C1-B0D5-057261C85D86}"/>
              </a:ext>
            </a:extLst>
          </p:cNvPr>
          <p:cNvSpPr>
            <a:spLocks noGrp="1"/>
          </p:cNvSpPr>
          <p:nvPr/>
        </p:nvSpPr>
        <p:spPr>
          <a:xfrm>
            <a:off x="8201025" y="2905125"/>
            <a:ext cx="1285875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350" b="1">
                <a:solidFill>
                  <a:srgbClr val="F5F7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7FF"/>
                </a:solidFill>
                <a:latin typeface="Arial"/>
                <a:ea typeface="Arial"/>
                <a:cs typeface="Arial"/>
              </a:rPr>
              <a:t>Quizzes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977AC36-42E8-43C6-866D-41D38DC98EE8}"/>
              </a:ext>
            </a:extLst>
          </p:cNvPr>
          <p:cNvSpPr>
            <a:spLocks noGrp="1"/>
          </p:cNvSpPr>
          <p:nvPr/>
        </p:nvSpPr>
        <p:spPr>
          <a:xfrm>
            <a:off x="9629775" y="2895600"/>
            <a:ext cx="2667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6667" lnSpcReduction="10000"/>
          </a:bodyPr>
          <a:lstStyle/>
          <a:p>
            <a:pPr>
              <a:defRPr sz="2400" b="1">
                <a:solidFill>
                  <a:srgbClr val="00D8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D8FF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62112182-B6C0-4415-9413-393FF8BF3C4E}"/>
              </a:ext>
            </a:extLst>
          </p:cNvPr>
          <p:cNvSpPr>
            <a:spLocks noGrp="1"/>
          </p:cNvSpPr>
          <p:nvPr/>
        </p:nvSpPr>
        <p:spPr>
          <a:xfrm>
            <a:off x="9906000" y="2714625"/>
            <a:ext cx="1571625" cy="762000"/>
          </a:xfrm>
          <a:prstGeom prst="roundRect">
            <a:avLst>
              <a:gd name="adj" fmla="val 10000"/>
            </a:avLst>
          </a:prstGeom>
          <a:solidFill>
            <a:srgbClr val="101629"/>
          </a:solidFill>
          <a:ln w="0">
            <a:noFill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888C164-DF25-40C5-B249-B44F5C9CCECF}"/>
              </a:ext>
            </a:extLst>
          </p:cNvPr>
          <p:cNvSpPr>
            <a:spLocks noGrp="1"/>
          </p:cNvSpPr>
          <p:nvPr/>
        </p:nvSpPr>
        <p:spPr>
          <a:xfrm>
            <a:off x="10048875" y="2905125"/>
            <a:ext cx="1285875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350" b="1">
                <a:solidFill>
                  <a:srgbClr val="F5F7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7FF"/>
                </a:solidFill>
                <a:latin typeface="Arial"/>
                <a:ea typeface="Arial"/>
                <a:cs typeface="Arial"/>
              </a:rPr>
              <a:t>Progress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154D657-64A6-4F75-A562-3D9E51E8A6CB}"/>
              </a:ext>
            </a:extLst>
          </p:cNvPr>
          <p:cNvSpPr>
            <a:spLocks noGrp="1"/>
          </p:cNvSpPr>
          <p:nvPr/>
        </p:nvSpPr>
        <p:spPr>
          <a:xfrm>
            <a:off x="952500" y="4524375"/>
            <a:ext cx="99060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650" b="0">
                <a:solidFill>
                  <a:srgbClr val="F5F7FF"/>
                </a:solidFill>
                <a:latin typeface="Arial"/>
                <a:ea typeface="Arial"/>
                <a:cs typeface="Arial"/>
              </a:defRPr>
            </a:pPr>
            <a:r>
              <a:rPr sz="1650" b="0" dirty="0">
                <a:solidFill>
                  <a:srgbClr val="F5F7FF"/>
                </a:solidFill>
                <a:latin typeface="Arial"/>
                <a:ea typeface="Arial"/>
                <a:cs typeface="Arial"/>
              </a:rPr>
              <a:t>The Android client sends the goal, level, daily time, and duration to its configured backend. The returned journey contains chapters, lessons, quizzes, and challenges.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AA94891-67E1-4A6F-981C-B9D968418D52}"/>
              </a:ext>
            </a:extLst>
          </p:cNvPr>
          <p:cNvSpPr>
            <a:spLocks noGrp="1"/>
          </p:cNvSpPr>
          <p:nvPr/>
        </p:nvSpPr>
        <p:spPr>
          <a:xfrm>
            <a:off x="685800" y="6486525"/>
            <a:ext cx="333375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7500" lnSpcReduction="20000"/>
          </a:bodyPr>
          <a:lstStyle/>
          <a:p>
            <a:pPr>
              <a:defRPr sz="750" b="0">
                <a:solidFill>
                  <a:srgbClr val="A9B5D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9B5D0"/>
                </a:solidFill>
                <a:latin typeface="Arial"/>
                <a:ea typeface="Arial"/>
                <a:cs typeface="Arial"/>
              </a:rPr>
              <a:t>NOVA AI QUEST  |  CLOCK IN 2026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8B2B18D-884F-42F8-8EDE-455EBC425319}"/>
              </a:ext>
            </a:extLst>
          </p:cNvPr>
          <p:cNvSpPr>
            <a:spLocks noGrp="1"/>
          </p:cNvSpPr>
          <p:nvPr/>
        </p:nvSpPr>
        <p:spPr>
          <a:xfrm>
            <a:off x="11144250" y="6486525"/>
            <a:ext cx="36195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7500" lnSpcReduction="20000"/>
          </a:bodyPr>
          <a:lstStyle/>
          <a:p>
            <a:pPr>
              <a:defRPr sz="750" b="0">
                <a:solidFill>
                  <a:srgbClr val="A9B5D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9B5D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788923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FDDDEF42-E0B8-4ED8-A995-205E45E9B0B2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125" b="1">
                <a:solidFill>
                  <a:srgbClr val="00D8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D8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8229D9C-829E-4978-8DA6-D15563A8353D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1047750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550" b="1">
                <a:solidFill>
                  <a:srgbClr val="F5F7FF"/>
                </a:solidFill>
                <a:latin typeface="Arial"/>
                <a:ea typeface="Arial"/>
                <a:cs typeface="Arial"/>
              </a:defRPr>
            </a:pPr>
            <a:r>
              <a:rPr sz="2550" b="1" dirty="0">
                <a:solidFill>
                  <a:srgbClr val="F5F7FF"/>
                </a:solidFill>
                <a:latin typeface="Arial"/>
                <a:ea typeface="Arial"/>
                <a:cs typeface="Arial"/>
              </a:rPr>
              <a:t>How the product works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BCCE160-7841-4C3E-82BE-76DF486BA7A5}"/>
              </a:ext>
            </a:extLst>
          </p:cNvPr>
          <p:cNvSpPr>
            <a:spLocks noGrp="1"/>
          </p:cNvSpPr>
          <p:nvPr/>
        </p:nvSpPr>
        <p:spPr>
          <a:xfrm>
            <a:off x="685800" y="1333500"/>
            <a:ext cx="100012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275" b="0">
                <a:solidFill>
                  <a:srgbClr val="A9B5D0"/>
                </a:solidFill>
                <a:latin typeface="Arial"/>
                <a:ea typeface="Arial"/>
                <a:cs typeface="Arial"/>
              </a:defRPr>
            </a:pPr>
            <a:r>
              <a:rPr sz="1275" b="0" dirty="0">
                <a:solidFill>
                  <a:srgbClr val="A9B5D0"/>
                </a:solidFill>
                <a:latin typeface="Arial"/>
                <a:ea typeface="Arial"/>
                <a:cs typeface="Arial"/>
              </a:rPr>
              <a:t>Current user flow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E1AD3A7-EDFE-4B2B-A1B4-E598FD8E6009}"/>
              </a:ext>
            </a:extLst>
          </p:cNvPr>
          <p:cNvSpPr>
            <a:spLocks noGrp="1"/>
          </p:cNvSpPr>
          <p:nvPr/>
        </p:nvSpPr>
        <p:spPr>
          <a:xfrm>
            <a:off x="666750" y="2190750"/>
            <a:ext cx="1571625" cy="762000"/>
          </a:xfrm>
          <a:prstGeom prst="roundRect">
            <a:avLst>
              <a:gd name="adj" fmla="val 10000"/>
            </a:avLst>
          </a:prstGeom>
          <a:solidFill>
            <a:srgbClr val="101629"/>
          </a:solidFill>
          <a:ln w="0">
            <a:noFill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A9C6D2E-C352-47C1-8A27-D9D76C6DD976}"/>
              </a:ext>
            </a:extLst>
          </p:cNvPr>
          <p:cNvSpPr>
            <a:spLocks noGrp="1"/>
          </p:cNvSpPr>
          <p:nvPr/>
        </p:nvSpPr>
        <p:spPr>
          <a:xfrm>
            <a:off x="809625" y="2381250"/>
            <a:ext cx="1285875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350" b="1">
                <a:solidFill>
                  <a:srgbClr val="F5F7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7FF"/>
                </a:solidFill>
                <a:latin typeface="Arial"/>
                <a:ea typeface="Arial"/>
                <a:cs typeface="Arial"/>
              </a:rPr>
              <a:t>Sign in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C24D23-DE79-499F-8E14-E4998CD26F62}"/>
              </a:ext>
            </a:extLst>
          </p:cNvPr>
          <p:cNvSpPr>
            <a:spLocks noGrp="1"/>
          </p:cNvSpPr>
          <p:nvPr/>
        </p:nvSpPr>
        <p:spPr>
          <a:xfrm>
            <a:off x="2238375" y="2371725"/>
            <a:ext cx="2667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6667" lnSpcReduction="10000"/>
          </a:bodyPr>
          <a:lstStyle/>
          <a:p>
            <a:pPr>
              <a:defRPr sz="2400" b="1">
                <a:solidFill>
                  <a:srgbClr val="00D8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D8FF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3D938F3-90D3-4548-BCC9-94BBBA0A9C0F}"/>
              </a:ext>
            </a:extLst>
          </p:cNvPr>
          <p:cNvSpPr>
            <a:spLocks noGrp="1"/>
          </p:cNvSpPr>
          <p:nvPr/>
        </p:nvSpPr>
        <p:spPr>
          <a:xfrm>
            <a:off x="2514600" y="2190750"/>
            <a:ext cx="1571625" cy="762000"/>
          </a:xfrm>
          <a:prstGeom prst="roundRect">
            <a:avLst>
              <a:gd name="adj" fmla="val 10000"/>
            </a:avLst>
          </a:prstGeom>
          <a:solidFill>
            <a:srgbClr val="101629"/>
          </a:solidFill>
          <a:ln w="0">
            <a:noFill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97C6007-4DF2-43D9-A181-11CCCA586375}"/>
              </a:ext>
            </a:extLst>
          </p:cNvPr>
          <p:cNvSpPr>
            <a:spLocks noGrp="1"/>
          </p:cNvSpPr>
          <p:nvPr/>
        </p:nvSpPr>
        <p:spPr>
          <a:xfrm>
            <a:off x="2657475" y="2381250"/>
            <a:ext cx="1285875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350" b="1">
                <a:solidFill>
                  <a:srgbClr val="F5F7FF"/>
                </a:solidFill>
                <a:latin typeface="Arial"/>
                <a:ea typeface="Arial"/>
                <a:cs typeface="Arial"/>
              </a:defRPr>
            </a:pPr>
            <a:r>
              <a:rPr sz="1350" b="1" dirty="0">
                <a:solidFill>
                  <a:srgbClr val="F5F7FF"/>
                </a:solidFill>
                <a:latin typeface="Arial"/>
                <a:ea typeface="Arial"/>
                <a:cs typeface="Arial"/>
              </a:rPr>
              <a:t>Set goal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2D0001C-A6B6-45FD-89DA-26C1D7A6317E}"/>
              </a:ext>
            </a:extLst>
          </p:cNvPr>
          <p:cNvSpPr>
            <a:spLocks noGrp="1"/>
          </p:cNvSpPr>
          <p:nvPr/>
        </p:nvSpPr>
        <p:spPr>
          <a:xfrm>
            <a:off x="4086225" y="2371725"/>
            <a:ext cx="2667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6667" lnSpcReduction="10000"/>
          </a:bodyPr>
          <a:lstStyle/>
          <a:p>
            <a:pPr>
              <a:defRPr sz="2400" b="1">
                <a:solidFill>
                  <a:srgbClr val="00D8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D8FF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059D06B-F86E-4372-9973-85A35BCF976B}"/>
              </a:ext>
            </a:extLst>
          </p:cNvPr>
          <p:cNvSpPr>
            <a:spLocks noGrp="1"/>
          </p:cNvSpPr>
          <p:nvPr/>
        </p:nvSpPr>
        <p:spPr>
          <a:xfrm>
            <a:off x="4362450" y="2190750"/>
            <a:ext cx="1571625" cy="762000"/>
          </a:xfrm>
          <a:prstGeom prst="roundRect">
            <a:avLst>
              <a:gd name="adj" fmla="val 10000"/>
            </a:avLst>
          </a:prstGeom>
          <a:solidFill>
            <a:srgbClr val="101629"/>
          </a:solidFill>
          <a:ln w="0">
            <a:noFill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5C24F70-795D-47B8-AAB5-6C10B099BA8E}"/>
              </a:ext>
            </a:extLst>
          </p:cNvPr>
          <p:cNvSpPr>
            <a:spLocks noGrp="1"/>
          </p:cNvSpPr>
          <p:nvPr/>
        </p:nvSpPr>
        <p:spPr>
          <a:xfrm>
            <a:off x="4505325" y="2381250"/>
            <a:ext cx="1285875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350" b="1">
                <a:solidFill>
                  <a:srgbClr val="F5F7FF"/>
                </a:solidFill>
                <a:latin typeface="Arial"/>
                <a:ea typeface="Arial"/>
                <a:cs typeface="Arial"/>
              </a:defRPr>
            </a:pPr>
            <a:r>
              <a:rPr sz="1350" b="1" dirty="0">
                <a:solidFill>
                  <a:srgbClr val="F5F7FF"/>
                </a:solidFill>
                <a:latin typeface="Arial"/>
                <a:ea typeface="Arial"/>
                <a:cs typeface="Arial"/>
              </a:rPr>
              <a:t>Generate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8009C07-E070-41CD-ACAF-ECCC5535C005}"/>
              </a:ext>
            </a:extLst>
          </p:cNvPr>
          <p:cNvSpPr>
            <a:spLocks noGrp="1"/>
          </p:cNvSpPr>
          <p:nvPr/>
        </p:nvSpPr>
        <p:spPr>
          <a:xfrm>
            <a:off x="5934075" y="2371725"/>
            <a:ext cx="2667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6667" lnSpcReduction="10000"/>
          </a:bodyPr>
          <a:lstStyle/>
          <a:p>
            <a:pPr>
              <a:defRPr sz="2400" b="1">
                <a:solidFill>
                  <a:srgbClr val="00D8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D8FF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BB7CE92-B398-4E7E-9DBE-CBC7BE1EBF41}"/>
              </a:ext>
            </a:extLst>
          </p:cNvPr>
          <p:cNvSpPr>
            <a:spLocks noGrp="1"/>
          </p:cNvSpPr>
          <p:nvPr/>
        </p:nvSpPr>
        <p:spPr>
          <a:xfrm>
            <a:off x="6210300" y="2190750"/>
            <a:ext cx="1571625" cy="762000"/>
          </a:xfrm>
          <a:prstGeom prst="roundRect">
            <a:avLst>
              <a:gd name="adj" fmla="val 10000"/>
            </a:avLst>
          </a:prstGeom>
          <a:solidFill>
            <a:srgbClr val="101629"/>
          </a:solidFill>
          <a:ln w="0">
            <a:noFill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0D84AE0-9DC2-414E-B8FF-7C1A0B21EC9B}"/>
              </a:ext>
            </a:extLst>
          </p:cNvPr>
          <p:cNvSpPr>
            <a:spLocks noGrp="1"/>
          </p:cNvSpPr>
          <p:nvPr/>
        </p:nvSpPr>
        <p:spPr>
          <a:xfrm>
            <a:off x="6353175" y="2381250"/>
            <a:ext cx="1285875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350" b="1">
                <a:solidFill>
                  <a:srgbClr val="F5F7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7FF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807706-5E26-45F2-9C9D-F8CB6B435ECA}"/>
              </a:ext>
            </a:extLst>
          </p:cNvPr>
          <p:cNvSpPr>
            <a:spLocks noGrp="1"/>
          </p:cNvSpPr>
          <p:nvPr/>
        </p:nvSpPr>
        <p:spPr>
          <a:xfrm>
            <a:off x="7781925" y="2371725"/>
            <a:ext cx="2667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6667" lnSpcReduction="10000"/>
          </a:bodyPr>
          <a:lstStyle/>
          <a:p>
            <a:pPr>
              <a:defRPr sz="2400" b="1">
                <a:solidFill>
                  <a:srgbClr val="00D8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D8FF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E7C7A07-4E2A-48E0-9FEF-7A1A00905CF4}"/>
              </a:ext>
            </a:extLst>
          </p:cNvPr>
          <p:cNvSpPr>
            <a:spLocks noGrp="1"/>
          </p:cNvSpPr>
          <p:nvPr/>
        </p:nvSpPr>
        <p:spPr>
          <a:xfrm>
            <a:off x="8058150" y="2190750"/>
            <a:ext cx="1571625" cy="762000"/>
          </a:xfrm>
          <a:prstGeom prst="roundRect">
            <a:avLst>
              <a:gd name="adj" fmla="val 10000"/>
            </a:avLst>
          </a:prstGeom>
          <a:solidFill>
            <a:srgbClr val="101629"/>
          </a:solidFill>
          <a:ln w="0">
            <a:noFill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05D0460-FA03-42AE-9BEC-8119C1388A1E}"/>
              </a:ext>
            </a:extLst>
          </p:cNvPr>
          <p:cNvSpPr>
            <a:spLocks noGrp="1"/>
          </p:cNvSpPr>
          <p:nvPr/>
        </p:nvSpPr>
        <p:spPr>
          <a:xfrm>
            <a:off x="8201025" y="2381250"/>
            <a:ext cx="1285875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350" b="1">
                <a:solidFill>
                  <a:srgbClr val="F5F7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7FF"/>
                </a:solidFill>
                <a:latin typeface="Arial"/>
                <a:ea typeface="Arial"/>
                <a:cs typeface="Arial"/>
              </a:rPr>
              <a:t>Quiz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E7B3316-0F85-47D1-8E94-CF92A7934919}"/>
              </a:ext>
            </a:extLst>
          </p:cNvPr>
          <p:cNvSpPr>
            <a:spLocks noGrp="1"/>
          </p:cNvSpPr>
          <p:nvPr/>
        </p:nvSpPr>
        <p:spPr>
          <a:xfrm>
            <a:off x="9629775" y="2371725"/>
            <a:ext cx="2667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6667" lnSpcReduction="10000"/>
          </a:bodyPr>
          <a:lstStyle/>
          <a:p>
            <a:pPr>
              <a:defRPr sz="2400" b="1">
                <a:solidFill>
                  <a:srgbClr val="00D8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D8FF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384DF9B6-CCE0-4BC2-A4F4-376BC2FBD0DA}"/>
              </a:ext>
            </a:extLst>
          </p:cNvPr>
          <p:cNvSpPr>
            <a:spLocks noGrp="1"/>
          </p:cNvSpPr>
          <p:nvPr/>
        </p:nvSpPr>
        <p:spPr>
          <a:xfrm>
            <a:off x="9906000" y="2190750"/>
            <a:ext cx="1571625" cy="762000"/>
          </a:xfrm>
          <a:prstGeom prst="roundRect">
            <a:avLst>
              <a:gd name="adj" fmla="val 10000"/>
            </a:avLst>
          </a:prstGeom>
          <a:solidFill>
            <a:srgbClr val="101629"/>
          </a:solidFill>
          <a:ln w="0">
            <a:noFill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77FD174-A1A2-4CE3-A24E-BB93F40CA6C0}"/>
              </a:ext>
            </a:extLst>
          </p:cNvPr>
          <p:cNvSpPr>
            <a:spLocks noGrp="1"/>
          </p:cNvSpPr>
          <p:nvPr/>
        </p:nvSpPr>
        <p:spPr>
          <a:xfrm>
            <a:off x="10048875" y="2381250"/>
            <a:ext cx="1285875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350" b="1">
                <a:solidFill>
                  <a:srgbClr val="F5F7FF"/>
                </a:solidFill>
                <a:latin typeface="Arial"/>
                <a:ea typeface="Arial"/>
                <a:cs typeface="Arial"/>
              </a:defRPr>
            </a:pPr>
            <a:r>
              <a:rPr sz="1350" b="1" dirty="0">
                <a:solidFill>
                  <a:srgbClr val="F5F7FF"/>
                </a:solidFill>
                <a:latin typeface="Arial"/>
                <a:ea typeface="Arial"/>
                <a:cs typeface="Arial"/>
              </a:rPr>
              <a:t>Unlock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EA432A0D-1403-4B09-9127-451DBAC3F50A}"/>
              </a:ext>
            </a:extLst>
          </p:cNvPr>
          <p:cNvSpPr>
            <a:spLocks noGrp="1"/>
          </p:cNvSpPr>
          <p:nvPr/>
        </p:nvSpPr>
        <p:spPr>
          <a:xfrm>
            <a:off x="876300" y="40005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00D8FF"/>
          </a:solidFill>
          <a:ln w="0">
            <a:noFill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2AEBC53-04F2-4617-8BA2-E014C3865188}"/>
              </a:ext>
            </a:extLst>
          </p:cNvPr>
          <p:cNvSpPr>
            <a:spLocks noGrp="1"/>
          </p:cNvSpPr>
          <p:nvPr/>
        </p:nvSpPr>
        <p:spPr>
          <a:xfrm>
            <a:off x="1104900" y="3943350"/>
            <a:ext cx="97726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425" b="0">
                <a:solidFill>
                  <a:srgbClr val="F5F7FF"/>
                </a:solidFill>
                <a:latin typeface="Arial"/>
                <a:ea typeface="Arial"/>
                <a:cs typeface="Arial"/>
              </a:defRPr>
            </a:pPr>
            <a:r>
              <a:rPr sz="1425" b="0" dirty="0">
                <a:solidFill>
                  <a:srgbClr val="F5F7FF"/>
                </a:solidFill>
                <a:latin typeface="Arial"/>
                <a:ea typeface="Arial"/>
                <a:cs typeface="Arial"/>
              </a:rPr>
              <a:t>Google sign-in creates the user session.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558B10DD-CEE3-47B2-907A-295BB1D2288E}"/>
              </a:ext>
            </a:extLst>
          </p:cNvPr>
          <p:cNvSpPr>
            <a:spLocks noGrp="1"/>
          </p:cNvSpPr>
          <p:nvPr/>
        </p:nvSpPr>
        <p:spPr>
          <a:xfrm>
            <a:off x="876300" y="44958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00D8FF"/>
          </a:solidFill>
          <a:ln w="0">
            <a:noFill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6EF70D3-CDFB-4483-8495-1D540881FE7F}"/>
              </a:ext>
            </a:extLst>
          </p:cNvPr>
          <p:cNvSpPr>
            <a:spLocks noGrp="1"/>
          </p:cNvSpPr>
          <p:nvPr/>
        </p:nvSpPr>
        <p:spPr>
          <a:xfrm>
            <a:off x="1104900" y="4438650"/>
            <a:ext cx="97726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425" b="0">
                <a:solidFill>
                  <a:srgbClr val="F5F7FF"/>
                </a:solidFill>
                <a:latin typeface="Arial"/>
                <a:ea typeface="Arial"/>
                <a:cs typeface="Arial"/>
              </a:defRPr>
            </a:pPr>
            <a:r>
              <a:rPr sz="1425" b="0" dirty="0">
                <a:solidFill>
                  <a:srgbClr val="F5F7FF"/>
                </a:solidFill>
                <a:latin typeface="Arial"/>
                <a:ea typeface="Arial"/>
                <a:cs typeface="Arial"/>
              </a:rPr>
              <a:t>The learner selects level, daily time, and duration before generation.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6070FFD3-96A4-4CDD-AA41-9FA16C88BFC0}"/>
              </a:ext>
            </a:extLst>
          </p:cNvPr>
          <p:cNvSpPr>
            <a:spLocks noGrp="1"/>
          </p:cNvSpPr>
          <p:nvPr/>
        </p:nvSpPr>
        <p:spPr>
          <a:xfrm>
            <a:off x="876300" y="49911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00D8FF"/>
          </a:solidFill>
          <a:ln w="0">
            <a:noFill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FA95D7B-CA02-4AAD-974F-2E3D8909CF87}"/>
              </a:ext>
            </a:extLst>
          </p:cNvPr>
          <p:cNvSpPr>
            <a:spLocks noGrp="1"/>
          </p:cNvSpPr>
          <p:nvPr/>
        </p:nvSpPr>
        <p:spPr>
          <a:xfrm>
            <a:off x="1104900" y="4933950"/>
            <a:ext cx="97726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425" b="0">
                <a:solidFill>
                  <a:srgbClr val="F5F7FF"/>
                </a:solidFill>
                <a:latin typeface="Arial"/>
                <a:ea typeface="Arial"/>
                <a:cs typeface="Arial"/>
              </a:defRPr>
            </a:pPr>
            <a:r>
              <a:rPr sz="1425" b="0" dirty="0">
                <a:solidFill>
                  <a:srgbClr val="F5F7FF"/>
                </a:solidFill>
                <a:latin typeface="Arial"/>
                <a:ea typeface="Arial"/>
                <a:cs typeface="Arial"/>
              </a:rPr>
              <a:t>Passing a lesson quiz marks the lesson complete and updates progress.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3F3DECF6-DB0A-46E5-973D-60D77E39FFBC}"/>
              </a:ext>
            </a:extLst>
          </p:cNvPr>
          <p:cNvSpPr>
            <a:spLocks noGrp="1"/>
          </p:cNvSpPr>
          <p:nvPr/>
        </p:nvSpPr>
        <p:spPr>
          <a:xfrm>
            <a:off x="876300" y="54864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00D8FF"/>
          </a:solidFill>
          <a:ln w="0">
            <a:noFill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B2FC3E3-D88C-493C-938B-A384FAEA225E}"/>
              </a:ext>
            </a:extLst>
          </p:cNvPr>
          <p:cNvSpPr>
            <a:spLocks noGrp="1"/>
          </p:cNvSpPr>
          <p:nvPr/>
        </p:nvSpPr>
        <p:spPr>
          <a:xfrm>
            <a:off x="1104900" y="5429250"/>
            <a:ext cx="97726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425" b="0">
                <a:solidFill>
                  <a:srgbClr val="F5F7FF"/>
                </a:solidFill>
                <a:latin typeface="Arial"/>
                <a:ea typeface="Arial"/>
                <a:cs typeface="Arial"/>
              </a:defRPr>
            </a:pPr>
            <a:r>
              <a:rPr sz="1425" b="0" dirty="0">
                <a:solidFill>
                  <a:srgbClr val="F5F7FF"/>
                </a:solidFill>
                <a:latin typeface="Arial"/>
                <a:ea typeface="Arial"/>
                <a:cs typeface="Arial"/>
              </a:rPr>
              <a:t>Chapter challenges gate chapter completion when present.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83E6C8A-FB0D-4057-9747-469913259F44}"/>
              </a:ext>
            </a:extLst>
          </p:cNvPr>
          <p:cNvSpPr>
            <a:spLocks noGrp="1"/>
          </p:cNvSpPr>
          <p:nvPr/>
        </p:nvSpPr>
        <p:spPr>
          <a:xfrm>
            <a:off x="685800" y="6486525"/>
            <a:ext cx="333375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7500" lnSpcReduction="20000"/>
          </a:bodyPr>
          <a:lstStyle/>
          <a:p>
            <a:pPr>
              <a:defRPr sz="750" b="0">
                <a:solidFill>
                  <a:srgbClr val="A9B5D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9B5D0"/>
                </a:solidFill>
                <a:latin typeface="Arial"/>
                <a:ea typeface="Arial"/>
                <a:cs typeface="Arial"/>
              </a:rPr>
              <a:t>NOVA AI QUEST  |  CLOCK IN 2026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AAA4C9E-8A54-49CD-8C94-AC6509FFC87A}"/>
              </a:ext>
            </a:extLst>
          </p:cNvPr>
          <p:cNvSpPr>
            <a:spLocks noGrp="1"/>
          </p:cNvSpPr>
          <p:nvPr/>
        </p:nvSpPr>
        <p:spPr>
          <a:xfrm>
            <a:off x="11144250" y="6486525"/>
            <a:ext cx="36195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7500" lnSpcReduction="20000"/>
          </a:bodyPr>
          <a:lstStyle/>
          <a:p>
            <a:pPr>
              <a:defRPr sz="750" b="0">
                <a:solidFill>
                  <a:srgbClr val="A9B5D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9B5D0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0100369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5AF25377-25FD-4712-BB71-8A8BC8A574EF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125" b="1">
                <a:solidFill>
                  <a:srgbClr val="00D8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D8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C94CF00-9720-4A9C-9019-7DADD454DE1A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1047750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550" b="1">
                <a:solidFill>
                  <a:srgbClr val="F5F7FF"/>
                </a:solidFill>
                <a:latin typeface="Arial"/>
                <a:ea typeface="Arial"/>
                <a:cs typeface="Arial"/>
              </a:defRPr>
            </a:pPr>
            <a:r>
              <a:rPr sz="2550" b="1" dirty="0">
                <a:solidFill>
                  <a:srgbClr val="F5F7FF"/>
                </a:solidFill>
                <a:latin typeface="Arial"/>
                <a:ea typeface="Arial"/>
                <a:cs typeface="Arial"/>
              </a:rPr>
              <a:t>AI-powered personalization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19B2799-E7F5-43F0-8C34-42348008434E}"/>
              </a:ext>
            </a:extLst>
          </p:cNvPr>
          <p:cNvSpPr>
            <a:spLocks noGrp="1"/>
          </p:cNvSpPr>
          <p:nvPr/>
        </p:nvSpPr>
        <p:spPr>
          <a:xfrm>
            <a:off x="685800" y="1333500"/>
            <a:ext cx="100012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275" b="0">
                <a:solidFill>
                  <a:srgbClr val="A9B5D0"/>
                </a:solidFill>
                <a:latin typeface="Arial"/>
                <a:ea typeface="Arial"/>
                <a:cs typeface="Arial"/>
              </a:defRPr>
            </a:pPr>
            <a:r>
              <a:rPr sz="1275" b="0" dirty="0">
                <a:solidFill>
                  <a:srgbClr val="A9B5D0"/>
                </a:solidFill>
                <a:latin typeface="Arial"/>
                <a:ea typeface="Arial"/>
                <a:cs typeface="Arial"/>
              </a:rPr>
              <a:t>The current backend generates the learning structure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7565AEE-44C2-496B-828D-54F559447C0C}"/>
              </a:ext>
            </a:extLst>
          </p:cNvPr>
          <p:cNvSpPr>
            <a:spLocks noGrp="1"/>
          </p:cNvSpPr>
          <p:nvPr/>
        </p:nvSpPr>
        <p:spPr>
          <a:xfrm>
            <a:off x="857250" y="2238375"/>
            <a:ext cx="4476750" cy="2381250"/>
          </a:xfrm>
          <a:prstGeom prst="roundRect">
            <a:avLst>
              <a:gd name="adj" fmla="val 3200"/>
            </a:avLst>
          </a:prstGeom>
          <a:solidFill>
            <a:srgbClr val="101629"/>
          </a:solidFill>
          <a:ln w="0">
            <a:noFill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71640D6-D56A-46FD-8628-5E4C6A57DC7A}"/>
              </a:ext>
            </a:extLst>
          </p:cNvPr>
          <p:cNvSpPr>
            <a:spLocks noGrp="1"/>
          </p:cNvSpPr>
          <p:nvPr/>
        </p:nvSpPr>
        <p:spPr>
          <a:xfrm>
            <a:off x="1143000" y="2571750"/>
            <a:ext cx="17145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7708" lnSpcReduction="20000"/>
          </a:bodyPr>
          <a:lstStyle/>
          <a:p>
            <a:pPr>
              <a:defRPr sz="1200" b="1">
                <a:solidFill>
                  <a:srgbClr val="00D8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D8FF"/>
                </a:solidFill>
                <a:latin typeface="Arial"/>
                <a:ea typeface="Arial"/>
                <a:cs typeface="Arial"/>
              </a:rPr>
              <a:t>INPUTS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60872B3-2159-45B0-8423-1594A7057E12}"/>
              </a:ext>
            </a:extLst>
          </p:cNvPr>
          <p:cNvSpPr>
            <a:spLocks noGrp="1"/>
          </p:cNvSpPr>
          <p:nvPr/>
        </p:nvSpPr>
        <p:spPr>
          <a:xfrm>
            <a:off x="1190625" y="30289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00D8FF"/>
          </a:solidFill>
          <a:ln w="0">
            <a:noFill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EA02699-B997-48CC-9B38-C4B461D669E6}"/>
              </a:ext>
            </a:extLst>
          </p:cNvPr>
          <p:cNvSpPr>
            <a:spLocks noGrp="1"/>
          </p:cNvSpPr>
          <p:nvPr/>
        </p:nvSpPr>
        <p:spPr>
          <a:xfrm>
            <a:off x="1419225" y="2971800"/>
            <a:ext cx="28194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425" b="0">
                <a:solidFill>
                  <a:srgbClr val="F5F7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5F7FF"/>
                </a:solidFill>
                <a:latin typeface="Arial"/>
                <a:ea typeface="Arial"/>
                <a:cs typeface="Arial"/>
              </a:rPr>
              <a:t>Learning goal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24F3DA1-0708-4CDC-88B0-4C00D8B8AAE5}"/>
              </a:ext>
            </a:extLst>
          </p:cNvPr>
          <p:cNvSpPr>
            <a:spLocks noGrp="1"/>
          </p:cNvSpPr>
          <p:nvPr/>
        </p:nvSpPr>
        <p:spPr>
          <a:xfrm>
            <a:off x="1190625" y="34290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00D8FF"/>
          </a:solidFill>
          <a:ln w="0">
            <a:noFill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91D1B03-C2B8-4D45-B1BE-FD9F524BF000}"/>
              </a:ext>
            </a:extLst>
          </p:cNvPr>
          <p:cNvSpPr>
            <a:spLocks noGrp="1"/>
          </p:cNvSpPr>
          <p:nvPr/>
        </p:nvSpPr>
        <p:spPr>
          <a:xfrm>
            <a:off x="1419225" y="3371850"/>
            <a:ext cx="28194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425" b="0">
                <a:solidFill>
                  <a:srgbClr val="F5F7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5F7FF"/>
                </a:solidFill>
                <a:latin typeface="Arial"/>
                <a:ea typeface="Arial"/>
                <a:cs typeface="Arial"/>
              </a:rPr>
              <a:t>Level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5187F55-82C9-4F95-87B9-3D16B41D58FF}"/>
              </a:ext>
            </a:extLst>
          </p:cNvPr>
          <p:cNvSpPr>
            <a:spLocks noGrp="1"/>
          </p:cNvSpPr>
          <p:nvPr/>
        </p:nvSpPr>
        <p:spPr>
          <a:xfrm>
            <a:off x="1190625" y="38290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00D8FF"/>
          </a:solidFill>
          <a:ln w="0">
            <a:noFill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69F1F55-1FB8-4A5B-97A2-37F394442204}"/>
              </a:ext>
            </a:extLst>
          </p:cNvPr>
          <p:cNvSpPr>
            <a:spLocks noGrp="1"/>
          </p:cNvSpPr>
          <p:nvPr/>
        </p:nvSpPr>
        <p:spPr>
          <a:xfrm>
            <a:off x="1419225" y="3771900"/>
            <a:ext cx="28194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425" b="0">
                <a:solidFill>
                  <a:srgbClr val="F5F7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5F7FF"/>
                </a:solidFill>
                <a:latin typeface="Arial"/>
                <a:ea typeface="Arial"/>
                <a:cs typeface="Arial"/>
              </a:rPr>
              <a:t>Daily time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E8AAAD6-DB41-4633-930A-3C79660F1093}"/>
              </a:ext>
            </a:extLst>
          </p:cNvPr>
          <p:cNvSpPr>
            <a:spLocks noGrp="1"/>
          </p:cNvSpPr>
          <p:nvPr/>
        </p:nvSpPr>
        <p:spPr>
          <a:xfrm>
            <a:off x="1190625" y="42291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00D8FF"/>
          </a:solidFill>
          <a:ln w="0">
            <a:noFill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F0317AB-422C-4A32-8438-1CC59A9CF2F7}"/>
              </a:ext>
            </a:extLst>
          </p:cNvPr>
          <p:cNvSpPr>
            <a:spLocks noGrp="1"/>
          </p:cNvSpPr>
          <p:nvPr/>
        </p:nvSpPr>
        <p:spPr>
          <a:xfrm>
            <a:off x="1419225" y="4171950"/>
            <a:ext cx="28194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425" b="0">
                <a:solidFill>
                  <a:srgbClr val="F5F7FF"/>
                </a:solidFill>
                <a:latin typeface="Arial"/>
                <a:ea typeface="Arial"/>
                <a:cs typeface="Arial"/>
              </a:defRPr>
            </a:pPr>
            <a:r>
              <a:rPr sz="1425" b="0" dirty="0">
                <a:solidFill>
                  <a:srgbClr val="F5F7FF"/>
                </a:solidFill>
                <a:latin typeface="Arial"/>
                <a:ea typeface="Arial"/>
                <a:cs typeface="Arial"/>
              </a:rPr>
              <a:t>Duration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6567A84-C08D-4D41-BCB7-19B08F0215D3}"/>
              </a:ext>
            </a:extLst>
          </p:cNvPr>
          <p:cNvSpPr>
            <a:spLocks noGrp="1"/>
          </p:cNvSpPr>
          <p:nvPr/>
        </p:nvSpPr>
        <p:spPr>
          <a:xfrm>
            <a:off x="6667500" y="2238375"/>
            <a:ext cx="4476750" cy="2381250"/>
          </a:xfrm>
          <a:prstGeom prst="roundRect">
            <a:avLst>
              <a:gd name="adj" fmla="val 3200"/>
            </a:avLst>
          </a:prstGeom>
          <a:solidFill>
            <a:srgbClr val="101629"/>
          </a:solidFill>
          <a:ln w="0">
            <a:noFill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4BD4607-90E6-41BB-AE61-7A16CA12AA4A}"/>
              </a:ext>
            </a:extLst>
          </p:cNvPr>
          <p:cNvSpPr>
            <a:spLocks noGrp="1"/>
          </p:cNvSpPr>
          <p:nvPr/>
        </p:nvSpPr>
        <p:spPr>
          <a:xfrm>
            <a:off x="6953250" y="2571750"/>
            <a:ext cx="17145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7708" lnSpcReduction="20000"/>
          </a:bodyPr>
          <a:lstStyle/>
          <a:p>
            <a:pPr>
              <a:defRPr sz="1200" b="1">
                <a:solidFill>
                  <a:srgbClr val="00D8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D8FF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64967BB-77C1-4AC5-ACA2-728ADDBF3A0B}"/>
              </a:ext>
            </a:extLst>
          </p:cNvPr>
          <p:cNvSpPr>
            <a:spLocks noGrp="1"/>
          </p:cNvSpPr>
          <p:nvPr/>
        </p:nvSpPr>
        <p:spPr>
          <a:xfrm>
            <a:off x="7000875" y="30289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00D8FF"/>
          </a:solidFill>
          <a:ln w="0">
            <a:noFill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E92406B-34BD-4C30-A1E5-FA6D42C9495B}"/>
              </a:ext>
            </a:extLst>
          </p:cNvPr>
          <p:cNvSpPr>
            <a:spLocks noGrp="1"/>
          </p:cNvSpPr>
          <p:nvPr/>
        </p:nvSpPr>
        <p:spPr>
          <a:xfrm>
            <a:off x="7229475" y="2971800"/>
            <a:ext cx="3057525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425" b="0">
                <a:solidFill>
                  <a:srgbClr val="F5F7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5F7FF"/>
                </a:solidFill>
                <a:latin typeface="Arial"/>
                <a:ea typeface="Arial"/>
                <a:cs typeface="Arial"/>
              </a:rPr>
              <a:t>Journey title and description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32FC9C63-1483-4E37-9E2C-B3AE2A14E12E}"/>
              </a:ext>
            </a:extLst>
          </p:cNvPr>
          <p:cNvSpPr>
            <a:spLocks noGrp="1"/>
          </p:cNvSpPr>
          <p:nvPr/>
        </p:nvSpPr>
        <p:spPr>
          <a:xfrm>
            <a:off x="7000875" y="34290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00D8FF"/>
          </a:solidFill>
          <a:ln w="0">
            <a:noFill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1746FCA-D1DD-4DBF-9970-9F19EFBCFE4B}"/>
              </a:ext>
            </a:extLst>
          </p:cNvPr>
          <p:cNvSpPr>
            <a:spLocks noGrp="1"/>
          </p:cNvSpPr>
          <p:nvPr/>
        </p:nvSpPr>
        <p:spPr>
          <a:xfrm>
            <a:off x="7229475" y="3371850"/>
            <a:ext cx="3057525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425" b="0">
                <a:solidFill>
                  <a:srgbClr val="F5F7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5F7FF"/>
                </a:solidFill>
                <a:latin typeface="Arial"/>
                <a:ea typeface="Arial"/>
                <a:cs typeface="Arial"/>
              </a:rPr>
              <a:t>Chapters and lessons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8EE0027A-E1FB-4497-BD00-760F2D2C27C4}"/>
              </a:ext>
            </a:extLst>
          </p:cNvPr>
          <p:cNvSpPr>
            <a:spLocks noGrp="1"/>
          </p:cNvSpPr>
          <p:nvPr/>
        </p:nvSpPr>
        <p:spPr>
          <a:xfrm>
            <a:off x="7000875" y="38290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00D8FF"/>
          </a:solidFill>
          <a:ln w="0">
            <a:noFill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1D4DADD-89F9-4F54-911A-949B90F19246}"/>
              </a:ext>
            </a:extLst>
          </p:cNvPr>
          <p:cNvSpPr>
            <a:spLocks noGrp="1"/>
          </p:cNvSpPr>
          <p:nvPr/>
        </p:nvSpPr>
        <p:spPr>
          <a:xfrm>
            <a:off x="7229475" y="3771900"/>
            <a:ext cx="3057525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425" b="0">
                <a:solidFill>
                  <a:srgbClr val="F5F7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5F7FF"/>
                </a:solidFill>
                <a:latin typeface="Arial"/>
                <a:ea typeface="Arial"/>
                <a:cs typeface="Arial"/>
              </a:rPr>
              <a:t>Quiz questions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83310F4D-56A0-4A46-836F-CEAC1E0FBBC6}"/>
              </a:ext>
            </a:extLst>
          </p:cNvPr>
          <p:cNvSpPr>
            <a:spLocks noGrp="1"/>
          </p:cNvSpPr>
          <p:nvPr/>
        </p:nvSpPr>
        <p:spPr>
          <a:xfrm>
            <a:off x="7000875" y="42291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00D8FF"/>
          </a:solidFill>
          <a:ln w="0">
            <a:noFill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C16DA3B-FD8C-4C76-BA3D-906C590F18DD}"/>
              </a:ext>
            </a:extLst>
          </p:cNvPr>
          <p:cNvSpPr>
            <a:spLocks noGrp="1"/>
          </p:cNvSpPr>
          <p:nvPr/>
        </p:nvSpPr>
        <p:spPr>
          <a:xfrm>
            <a:off x="7229475" y="4171950"/>
            <a:ext cx="3057525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425" b="0">
                <a:solidFill>
                  <a:srgbClr val="F5F7FF"/>
                </a:solidFill>
                <a:latin typeface="Arial"/>
                <a:ea typeface="Arial"/>
                <a:cs typeface="Arial"/>
              </a:defRPr>
            </a:pPr>
            <a:r>
              <a:rPr sz="1425" b="0" dirty="0">
                <a:solidFill>
                  <a:srgbClr val="F5F7FF"/>
                </a:solidFill>
                <a:latin typeface="Arial"/>
                <a:ea typeface="Arial"/>
                <a:cs typeface="Arial"/>
              </a:rPr>
              <a:t>chapter challenge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1333EB0-A7FE-481C-907F-4BBB6E2C4F85}"/>
              </a:ext>
            </a:extLst>
          </p:cNvPr>
          <p:cNvSpPr>
            <a:spLocks noGrp="1"/>
          </p:cNvSpPr>
          <p:nvPr/>
        </p:nvSpPr>
        <p:spPr>
          <a:xfrm>
            <a:off x="857250" y="5238750"/>
            <a:ext cx="100965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6897"/>
          </a:bodyPr>
          <a:lstStyle/>
          <a:p>
            <a:pPr>
              <a:defRPr sz="1425" b="0">
                <a:solidFill>
                  <a:srgbClr val="A9B5D0"/>
                </a:solidFill>
                <a:latin typeface="Arial"/>
                <a:ea typeface="Arial"/>
                <a:cs typeface="Arial"/>
              </a:defRPr>
            </a:pPr>
            <a:r>
              <a:rPr sz="1425" b="0" dirty="0">
                <a:solidFill>
                  <a:srgbClr val="A9B5D0"/>
                </a:solidFill>
                <a:latin typeface="Arial"/>
                <a:ea typeface="Arial"/>
                <a:cs typeface="Arial"/>
              </a:rPr>
              <a:t>The source code identifies this component only as an AI-powered backend. It does not identify a model provider or claim autonomous tutoring.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329737B-DB8A-4238-9442-F3A6D3F23899}"/>
              </a:ext>
            </a:extLst>
          </p:cNvPr>
          <p:cNvSpPr>
            <a:spLocks noGrp="1"/>
          </p:cNvSpPr>
          <p:nvPr/>
        </p:nvSpPr>
        <p:spPr>
          <a:xfrm>
            <a:off x="685800" y="6486525"/>
            <a:ext cx="333375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7500" lnSpcReduction="20000"/>
          </a:bodyPr>
          <a:lstStyle/>
          <a:p>
            <a:pPr>
              <a:defRPr sz="750" b="0">
                <a:solidFill>
                  <a:srgbClr val="A9B5D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9B5D0"/>
                </a:solidFill>
                <a:latin typeface="Arial"/>
                <a:ea typeface="Arial"/>
                <a:cs typeface="Arial"/>
              </a:rPr>
              <a:t>NOVA AI QUEST  |  CLOCK IN 2026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EDCC54E-59F4-48E0-8CB0-180C786E2B5E}"/>
              </a:ext>
            </a:extLst>
          </p:cNvPr>
          <p:cNvSpPr>
            <a:spLocks noGrp="1"/>
          </p:cNvSpPr>
          <p:nvPr/>
        </p:nvSpPr>
        <p:spPr>
          <a:xfrm>
            <a:off x="11144250" y="6486525"/>
            <a:ext cx="36195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7500" lnSpcReduction="20000"/>
          </a:bodyPr>
          <a:lstStyle/>
          <a:p>
            <a:pPr>
              <a:defRPr sz="750" b="0">
                <a:solidFill>
                  <a:srgbClr val="A9B5D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9B5D0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0896888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11CF47B1-8EB9-418A-9F69-01EA37249B18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125" b="1">
                <a:solidFill>
                  <a:srgbClr val="00D8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D8F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AA33ADD-AEA5-4069-A558-A9D6C17C5C60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1047750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550" b="1">
                <a:solidFill>
                  <a:srgbClr val="F5F7FF"/>
                </a:solidFill>
                <a:latin typeface="Arial"/>
                <a:ea typeface="Arial"/>
                <a:cs typeface="Arial"/>
              </a:defRPr>
            </a:pPr>
            <a:r>
              <a:rPr sz="2550" b="1" dirty="0">
                <a:solidFill>
                  <a:srgbClr val="F5F7FF"/>
                </a:solidFill>
                <a:latin typeface="Arial"/>
                <a:ea typeface="Arial"/>
                <a:cs typeface="Arial"/>
              </a:rPr>
              <a:t>Game-like progress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1987BD2-7CCA-4055-8B1D-D51AA2368D9A}"/>
              </a:ext>
            </a:extLst>
          </p:cNvPr>
          <p:cNvSpPr>
            <a:spLocks noGrp="1"/>
          </p:cNvSpPr>
          <p:nvPr/>
        </p:nvSpPr>
        <p:spPr>
          <a:xfrm>
            <a:off x="685800" y="1333500"/>
            <a:ext cx="100012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275" b="0">
                <a:solidFill>
                  <a:srgbClr val="A9B5D0"/>
                </a:solidFill>
                <a:latin typeface="Arial"/>
                <a:ea typeface="Arial"/>
                <a:cs typeface="Arial"/>
              </a:defRPr>
            </a:pPr>
            <a:r>
              <a:rPr sz="1275" b="0" dirty="0">
                <a:solidFill>
                  <a:srgbClr val="A9B5D0"/>
                </a:solidFill>
                <a:latin typeface="Arial"/>
                <a:ea typeface="Arial"/>
                <a:cs typeface="Arial"/>
              </a:rPr>
              <a:t>Implemented systems make learning state visible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52847C2-8ACC-4B66-8587-FBF4CC3D0B9B}"/>
              </a:ext>
            </a:extLst>
          </p:cNvPr>
          <p:cNvSpPr>
            <a:spLocks noGrp="1"/>
          </p:cNvSpPr>
          <p:nvPr/>
        </p:nvSpPr>
        <p:spPr>
          <a:xfrm>
            <a:off x="685800" y="2095500"/>
            <a:ext cx="3238500" cy="1381125"/>
          </a:xfrm>
          <a:prstGeom prst="roundRect">
            <a:avLst>
              <a:gd name="adj" fmla="val 5517"/>
            </a:avLst>
          </a:prstGeom>
          <a:solidFill>
            <a:srgbClr val="101629"/>
          </a:solidFill>
          <a:ln w="0">
            <a:noFill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42E7087-438F-468D-9E42-DFD8BD8B4EDE}"/>
              </a:ext>
            </a:extLst>
          </p:cNvPr>
          <p:cNvSpPr>
            <a:spLocks noGrp="1"/>
          </p:cNvSpPr>
          <p:nvPr/>
        </p:nvSpPr>
        <p:spPr>
          <a:xfrm>
            <a:off x="895350" y="2286000"/>
            <a:ext cx="27622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0516" lnSpcReduction="20000"/>
          </a:bodyPr>
          <a:lstStyle/>
          <a:p>
            <a:pPr>
              <a:defRPr sz="1575" b="1">
                <a:solidFill>
                  <a:srgbClr val="00D8FF"/>
                </a:solidFill>
                <a:latin typeface="Arial"/>
                <a:ea typeface="Arial"/>
                <a:cs typeface="Arial"/>
              </a:defRPr>
            </a:pPr>
            <a:r>
              <a:rPr sz="1575" b="1" dirty="0">
                <a:solidFill>
                  <a:srgbClr val="00D8FF"/>
                </a:solidFill>
                <a:latin typeface="Arial"/>
                <a:ea typeface="Arial"/>
                <a:cs typeface="Arial"/>
              </a:rPr>
              <a:t>XP &amp; levels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E60D2E7-EAD1-4B1D-B03D-21BFC85574FC}"/>
              </a:ext>
            </a:extLst>
          </p:cNvPr>
          <p:cNvSpPr>
            <a:spLocks noGrp="1"/>
          </p:cNvSpPr>
          <p:nvPr/>
        </p:nvSpPr>
        <p:spPr>
          <a:xfrm>
            <a:off x="895350" y="2647950"/>
            <a:ext cx="276225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lnSpcReduction="10000"/>
          </a:bodyPr>
          <a:lstStyle/>
          <a:p>
            <a:pPr>
              <a:defRPr sz="1200" b="0">
                <a:solidFill>
                  <a:srgbClr val="F5F7FF"/>
                </a:solidFill>
                <a:latin typeface="Arial"/>
                <a:ea typeface="Arial"/>
                <a:cs typeface="Arial"/>
              </a:defRPr>
            </a:pPr>
            <a:r>
              <a:rPr lang="en-US" sz="1200" b="0" dirty="0">
                <a:solidFill>
                  <a:srgbClr val="F5F7FF"/>
                </a:solidFill>
                <a:latin typeface="Arial"/>
                <a:ea typeface="Arial"/>
                <a:cs typeface="Arial"/>
              </a:rPr>
              <a:t>Correct answers add XP. Total XP determines level, with Nova evolving visually as the learner levels up.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463A8BC-F057-48C7-9940-C0FF0D0100F7}"/>
              </a:ext>
            </a:extLst>
          </p:cNvPr>
          <p:cNvSpPr>
            <a:spLocks noGrp="1"/>
          </p:cNvSpPr>
          <p:nvPr/>
        </p:nvSpPr>
        <p:spPr>
          <a:xfrm>
            <a:off x="4324350" y="2095500"/>
            <a:ext cx="3238500" cy="1381125"/>
          </a:xfrm>
          <a:prstGeom prst="roundRect">
            <a:avLst>
              <a:gd name="adj" fmla="val 5517"/>
            </a:avLst>
          </a:prstGeom>
          <a:solidFill>
            <a:srgbClr val="101629"/>
          </a:solidFill>
          <a:ln w="0">
            <a:noFill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B6DD410-EBB4-4977-A800-219E23FE8C50}"/>
              </a:ext>
            </a:extLst>
          </p:cNvPr>
          <p:cNvSpPr>
            <a:spLocks noGrp="1"/>
          </p:cNvSpPr>
          <p:nvPr/>
        </p:nvSpPr>
        <p:spPr>
          <a:xfrm>
            <a:off x="4533900" y="2286000"/>
            <a:ext cx="27622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0516" lnSpcReduction="20000"/>
          </a:bodyPr>
          <a:lstStyle/>
          <a:p>
            <a:pPr>
              <a:defRPr sz="1575" b="1">
                <a:solidFill>
                  <a:srgbClr val="00D8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D8FF"/>
                </a:solidFill>
                <a:latin typeface="Arial"/>
                <a:ea typeface="Arial"/>
                <a:cs typeface="Arial"/>
              </a:rPr>
              <a:t>Coins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5481404-B621-44C0-931F-5992C45BFA4B}"/>
              </a:ext>
            </a:extLst>
          </p:cNvPr>
          <p:cNvSpPr>
            <a:spLocks noGrp="1"/>
          </p:cNvSpPr>
          <p:nvPr/>
        </p:nvSpPr>
        <p:spPr>
          <a:xfrm>
            <a:off x="4533900" y="2647950"/>
            <a:ext cx="276225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200" b="0">
                <a:solidFill>
                  <a:srgbClr val="F5F7FF"/>
                </a:solidFill>
                <a:latin typeface="Arial"/>
                <a:ea typeface="Arial"/>
                <a:cs typeface="Arial"/>
              </a:defRPr>
            </a:pPr>
            <a:r>
              <a:rPr sz="1200" b="0" dirty="0">
                <a:solidFill>
                  <a:srgbClr val="F5F7FF"/>
                </a:solidFill>
                <a:latin typeface="Arial"/>
                <a:ea typeface="Arial"/>
                <a:cs typeface="Arial"/>
              </a:rPr>
              <a:t>Passing quizzes and completing the verified daily quest can add Coins.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5719C97-3AD8-4DFD-A461-72894B5620F1}"/>
              </a:ext>
            </a:extLst>
          </p:cNvPr>
          <p:cNvSpPr>
            <a:spLocks noGrp="1"/>
          </p:cNvSpPr>
          <p:nvPr/>
        </p:nvSpPr>
        <p:spPr>
          <a:xfrm>
            <a:off x="7962900" y="2095500"/>
            <a:ext cx="3238500" cy="1381125"/>
          </a:xfrm>
          <a:prstGeom prst="roundRect">
            <a:avLst>
              <a:gd name="adj" fmla="val 5517"/>
            </a:avLst>
          </a:prstGeom>
          <a:solidFill>
            <a:srgbClr val="101629"/>
          </a:solidFill>
          <a:ln w="0">
            <a:noFill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57A384-0A5E-4847-AAAF-ECC920CFEB0D}"/>
              </a:ext>
            </a:extLst>
          </p:cNvPr>
          <p:cNvSpPr>
            <a:spLocks noGrp="1"/>
          </p:cNvSpPr>
          <p:nvPr/>
        </p:nvSpPr>
        <p:spPr>
          <a:xfrm>
            <a:off x="8172450" y="2286000"/>
            <a:ext cx="27622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0516" lnSpcReduction="20000"/>
          </a:bodyPr>
          <a:lstStyle/>
          <a:p>
            <a:pPr>
              <a:defRPr sz="1575" b="1">
                <a:solidFill>
                  <a:srgbClr val="00D8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D8FF"/>
                </a:solidFill>
                <a:latin typeface="Arial"/>
                <a:ea typeface="Arial"/>
                <a:cs typeface="Arial"/>
              </a:rPr>
              <a:t>Achievements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51CDB47-42DA-4A91-9674-2ADB7F676B4E}"/>
              </a:ext>
            </a:extLst>
          </p:cNvPr>
          <p:cNvSpPr>
            <a:spLocks noGrp="1"/>
          </p:cNvSpPr>
          <p:nvPr/>
        </p:nvSpPr>
        <p:spPr>
          <a:xfrm>
            <a:off x="8172450" y="2647950"/>
            <a:ext cx="276225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200" b="0">
                <a:solidFill>
                  <a:srgbClr val="F5F7FF"/>
                </a:solidFill>
                <a:latin typeface="Arial"/>
                <a:ea typeface="Arial"/>
                <a:cs typeface="Arial"/>
              </a:defRPr>
            </a:pPr>
            <a:r>
              <a:rPr sz="1200" b="0" dirty="0">
                <a:solidFill>
                  <a:srgbClr val="F5F7FF"/>
                </a:solidFill>
                <a:latin typeface="Arial"/>
                <a:ea typeface="Arial"/>
                <a:cs typeface="Arial"/>
              </a:rPr>
              <a:t>Completion milestones are stored in </a:t>
            </a:r>
            <a:r>
              <a:rPr sz="1200" b="0" dirty="0" err="1">
                <a:solidFill>
                  <a:srgbClr val="F5F7FF"/>
                </a:solidFill>
                <a:latin typeface="Arial"/>
                <a:ea typeface="Arial"/>
                <a:cs typeface="Arial"/>
              </a:rPr>
              <a:t>Firestore</a:t>
            </a:r>
            <a:r>
              <a:rPr sz="1200" b="0" dirty="0">
                <a:solidFill>
                  <a:srgbClr val="F5F7FF"/>
                </a:solidFill>
                <a:latin typeface="Arial"/>
                <a:ea typeface="Arial"/>
                <a:cs typeface="Arial"/>
              </a:rPr>
              <a:t> and can trigger notifications.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C797432-51AC-411E-9CE4-B347D78865C3}"/>
              </a:ext>
            </a:extLst>
          </p:cNvPr>
          <p:cNvSpPr>
            <a:spLocks noGrp="1"/>
          </p:cNvSpPr>
          <p:nvPr/>
        </p:nvSpPr>
        <p:spPr>
          <a:xfrm>
            <a:off x="685800" y="3857625"/>
            <a:ext cx="3238500" cy="1381125"/>
          </a:xfrm>
          <a:prstGeom prst="roundRect">
            <a:avLst>
              <a:gd name="adj" fmla="val 5517"/>
            </a:avLst>
          </a:prstGeom>
          <a:solidFill>
            <a:srgbClr val="101629"/>
          </a:solidFill>
          <a:ln w="0">
            <a:noFill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1FD6328-A109-42A5-A918-59AAA1E902B9}"/>
              </a:ext>
            </a:extLst>
          </p:cNvPr>
          <p:cNvSpPr>
            <a:spLocks noGrp="1"/>
          </p:cNvSpPr>
          <p:nvPr/>
        </p:nvSpPr>
        <p:spPr>
          <a:xfrm>
            <a:off x="895350" y="4048125"/>
            <a:ext cx="27622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0516" lnSpcReduction="20000"/>
          </a:bodyPr>
          <a:lstStyle/>
          <a:p>
            <a:pPr>
              <a:defRPr sz="1575" b="1">
                <a:solidFill>
                  <a:srgbClr val="00D8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D8FF"/>
                </a:solidFill>
                <a:latin typeface="Arial"/>
                <a:ea typeface="Arial"/>
                <a:cs typeface="Arial"/>
              </a:rPr>
              <a:t>Journey map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8AC0806-E0DE-422C-BE7A-0C2B3CA1C1A7}"/>
              </a:ext>
            </a:extLst>
          </p:cNvPr>
          <p:cNvSpPr>
            <a:spLocks noGrp="1"/>
          </p:cNvSpPr>
          <p:nvPr/>
        </p:nvSpPr>
        <p:spPr>
          <a:xfrm>
            <a:off x="895350" y="4410075"/>
            <a:ext cx="276225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200" b="0">
                <a:solidFill>
                  <a:srgbClr val="F5F7FF"/>
                </a:solidFill>
                <a:latin typeface="Arial"/>
                <a:ea typeface="Arial"/>
                <a:cs typeface="Arial"/>
              </a:defRPr>
            </a:pPr>
            <a:r>
              <a:rPr sz="1200" b="0" dirty="0">
                <a:solidFill>
                  <a:srgbClr val="F5F7FF"/>
                </a:solidFill>
                <a:latin typeface="Arial"/>
                <a:ea typeface="Arial"/>
                <a:cs typeface="Arial"/>
              </a:rPr>
              <a:t>Lessons, challenges, and chapter gates control progression.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42493B6-D361-412B-A9D9-CFEF29E99673}"/>
              </a:ext>
            </a:extLst>
          </p:cNvPr>
          <p:cNvSpPr>
            <a:spLocks noGrp="1"/>
          </p:cNvSpPr>
          <p:nvPr/>
        </p:nvSpPr>
        <p:spPr>
          <a:xfrm>
            <a:off x="4324350" y="3857625"/>
            <a:ext cx="3238500" cy="1381125"/>
          </a:xfrm>
          <a:prstGeom prst="roundRect">
            <a:avLst>
              <a:gd name="adj" fmla="val 5517"/>
            </a:avLst>
          </a:prstGeom>
          <a:solidFill>
            <a:srgbClr val="101629"/>
          </a:solidFill>
          <a:ln w="0">
            <a:noFill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9024741-FE4C-4C69-9313-DDAEBF8B7342}"/>
              </a:ext>
            </a:extLst>
          </p:cNvPr>
          <p:cNvSpPr>
            <a:spLocks noGrp="1"/>
          </p:cNvSpPr>
          <p:nvPr/>
        </p:nvSpPr>
        <p:spPr>
          <a:xfrm>
            <a:off x="4533900" y="4048125"/>
            <a:ext cx="27622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0516" lnSpcReduction="20000"/>
          </a:bodyPr>
          <a:lstStyle/>
          <a:p>
            <a:pPr>
              <a:defRPr sz="1575" b="1">
                <a:solidFill>
                  <a:srgbClr val="00D8FF"/>
                </a:solidFill>
                <a:latin typeface="Arial"/>
                <a:ea typeface="Arial"/>
                <a:cs typeface="Arial"/>
              </a:defRPr>
            </a:pPr>
            <a:r>
              <a:rPr sz="1575" b="1" dirty="0">
                <a:solidFill>
                  <a:srgbClr val="00D8FF"/>
                </a:solidFill>
                <a:latin typeface="Arial"/>
                <a:ea typeface="Arial"/>
                <a:cs typeface="Arial"/>
              </a:rPr>
              <a:t>Leaderboard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BDD7D9D-6D74-4AD9-8392-BEB978B93626}"/>
              </a:ext>
            </a:extLst>
          </p:cNvPr>
          <p:cNvSpPr>
            <a:spLocks noGrp="1"/>
          </p:cNvSpPr>
          <p:nvPr/>
        </p:nvSpPr>
        <p:spPr>
          <a:xfrm>
            <a:off x="4533900" y="4410075"/>
            <a:ext cx="276225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200" b="0">
                <a:solidFill>
                  <a:srgbClr val="F5F7FF"/>
                </a:solidFill>
                <a:latin typeface="Arial"/>
                <a:ea typeface="Arial"/>
                <a:cs typeface="Arial"/>
              </a:defRPr>
            </a:pPr>
            <a:r>
              <a:rPr lang="en-US" dirty="0"/>
              <a:t>Weekly XP powers a </a:t>
            </a:r>
            <a:r>
              <a:rPr lang="en-US" dirty="0" err="1"/>
              <a:t>Firestore</a:t>
            </a:r>
            <a:r>
              <a:rPr lang="en-US" dirty="0"/>
              <a:t> backed Top 100 leaderboard.</a:t>
            </a:r>
            <a:endParaRPr sz="1200" b="0" dirty="0">
              <a:solidFill>
                <a:srgbClr val="F5F7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9669E320-40D7-4FDC-B78D-F70052DDF718}"/>
              </a:ext>
            </a:extLst>
          </p:cNvPr>
          <p:cNvSpPr>
            <a:spLocks noGrp="1"/>
          </p:cNvSpPr>
          <p:nvPr/>
        </p:nvSpPr>
        <p:spPr>
          <a:xfrm>
            <a:off x="7962900" y="3857625"/>
            <a:ext cx="3238500" cy="1381125"/>
          </a:xfrm>
          <a:prstGeom prst="roundRect">
            <a:avLst>
              <a:gd name="adj" fmla="val 5517"/>
            </a:avLst>
          </a:prstGeom>
          <a:solidFill>
            <a:srgbClr val="101629"/>
          </a:solidFill>
          <a:ln w="0">
            <a:noFill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7E09118-3D66-487E-95AC-67EC1D797564}"/>
              </a:ext>
            </a:extLst>
          </p:cNvPr>
          <p:cNvSpPr>
            <a:spLocks noGrp="1"/>
          </p:cNvSpPr>
          <p:nvPr/>
        </p:nvSpPr>
        <p:spPr>
          <a:xfrm>
            <a:off x="8172450" y="4048125"/>
            <a:ext cx="27622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0516" lnSpcReduction="20000"/>
          </a:bodyPr>
          <a:lstStyle/>
          <a:p>
            <a:pPr>
              <a:defRPr sz="1575" b="1">
                <a:solidFill>
                  <a:srgbClr val="00D8FF"/>
                </a:solidFill>
                <a:latin typeface="Arial"/>
                <a:ea typeface="Arial"/>
                <a:cs typeface="Arial"/>
              </a:defRPr>
            </a:pPr>
            <a:r>
              <a:rPr sz="1575" b="1" dirty="0">
                <a:solidFill>
                  <a:srgbClr val="00D8FF"/>
                </a:solidFill>
                <a:latin typeface="Arial"/>
                <a:ea typeface="Arial"/>
                <a:cs typeface="Arial"/>
              </a:rPr>
              <a:t>Cosmetics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F13F33D-EB97-4367-8B2A-D38D01A6A7A8}"/>
              </a:ext>
            </a:extLst>
          </p:cNvPr>
          <p:cNvSpPr>
            <a:spLocks noGrp="1"/>
          </p:cNvSpPr>
          <p:nvPr/>
        </p:nvSpPr>
        <p:spPr>
          <a:xfrm>
            <a:off x="8172450" y="4410075"/>
            <a:ext cx="276225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200" b="0">
                <a:solidFill>
                  <a:srgbClr val="F5F7FF"/>
                </a:solidFill>
                <a:latin typeface="Arial"/>
                <a:ea typeface="Arial"/>
                <a:cs typeface="Arial"/>
              </a:defRPr>
            </a:pPr>
            <a:r>
              <a:rPr lang="en-US" sz="1200" b="0" dirty="0">
                <a:solidFill>
                  <a:srgbClr val="F5F7FF"/>
                </a:solidFill>
                <a:latin typeface="Arial"/>
                <a:ea typeface="Arial"/>
                <a:cs typeface="Arial"/>
              </a:rPr>
              <a:t>Coins unlock additional Nova themes and themed UI styling.</a:t>
            </a:r>
            <a:endParaRPr sz="1200" b="0" dirty="0">
              <a:solidFill>
                <a:srgbClr val="F5F7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7990A68-E7DC-498C-85E4-A7A23126154F}"/>
              </a:ext>
            </a:extLst>
          </p:cNvPr>
          <p:cNvSpPr>
            <a:spLocks noGrp="1"/>
          </p:cNvSpPr>
          <p:nvPr/>
        </p:nvSpPr>
        <p:spPr>
          <a:xfrm>
            <a:off x="685800" y="6486525"/>
            <a:ext cx="333375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7500" lnSpcReduction="20000"/>
          </a:bodyPr>
          <a:lstStyle/>
          <a:p>
            <a:pPr>
              <a:defRPr sz="750" b="0">
                <a:solidFill>
                  <a:srgbClr val="A9B5D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9B5D0"/>
                </a:solidFill>
                <a:latin typeface="Arial"/>
                <a:ea typeface="Arial"/>
                <a:cs typeface="Arial"/>
              </a:rPr>
              <a:t>NOVA AI QUEST  |  CLOCK IN 2026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D1A5327-AF15-4262-81A5-AB5D1E52DF27}"/>
              </a:ext>
            </a:extLst>
          </p:cNvPr>
          <p:cNvSpPr>
            <a:spLocks noGrp="1"/>
          </p:cNvSpPr>
          <p:nvPr/>
        </p:nvSpPr>
        <p:spPr>
          <a:xfrm>
            <a:off x="11144250" y="6486525"/>
            <a:ext cx="36195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7500" lnSpcReduction="20000"/>
          </a:bodyPr>
          <a:lstStyle/>
          <a:p>
            <a:pPr>
              <a:defRPr sz="750" b="0">
                <a:solidFill>
                  <a:srgbClr val="A9B5D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9B5D0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4526320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E44D62E2-4EFA-407B-BE85-29D91A3406E0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125" b="1">
                <a:solidFill>
                  <a:srgbClr val="00D8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D8FF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DF37367-38EA-44D8-B32D-8BB546B88B4E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1047750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550" b="1">
                <a:solidFill>
                  <a:srgbClr val="F5F7FF"/>
                </a:solidFill>
                <a:latin typeface="Arial"/>
                <a:ea typeface="Arial"/>
                <a:cs typeface="Arial"/>
              </a:defRPr>
            </a:pPr>
            <a:r>
              <a:rPr sz="2550" b="1" dirty="0">
                <a:solidFill>
                  <a:srgbClr val="F5F7FF"/>
                </a:solidFill>
                <a:latin typeface="Arial"/>
                <a:ea typeface="Arial"/>
                <a:cs typeface="Arial"/>
              </a:rPr>
              <a:t>Solana verification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D6A7395-8583-4701-9CEE-BB7C642B2490}"/>
              </a:ext>
            </a:extLst>
          </p:cNvPr>
          <p:cNvSpPr>
            <a:spLocks noGrp="1"/>
          </p:cNvSpPr>
          <p:nvPr/>
        </p:nvSpPr>
        <p:spPr>
          <a:xfrm>
            <a:off x="685800" y="1333500"/>
            <a:ext cx="100012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275" b="0">
                <a:solidFill>
                  <a:srgbClr val="A9B5D0"/>
                </a:solidFill>
                <a:latin typeface="Arial"/>
                <a:ea typeface="Arial"/>
                <a:cs typeface="Arial"/>
              </a:defRPr>
            </a:pPr>
            <a:r>
              <a:rPr sz="1275" b="0" dirty="0">
                <a:solidFill>
                  <a:srgbClr val="A9B5D0"/>
                </a:solidFill>
                <a:latin typeface="Arial"/>
                <a:ea typeface="Arial"/>
                <a:cs typeface="Arial"/>
              </a:rPr>
              <a:t>Wallet-signed proof for achievements and the Seeker Daily Quest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697B44C-6E7E-4404-B349-E24EA215D304}"/>
              </a:ext>
            </a:extLst>
          </p:cNvPr>
          <p:cNvSpPr>
            <a:spLocks noGrp="1"/>
          </p:cNvSpPr>
          <p:nvPr/>
        </p:nvSpPr>
        <p:spPr>
          <a:xfrm>
            <a:off x="666750" y="2381250"/>
            <a:ext cx="1571625" cy="762000"/>
          </a:xfrm>
          <a:prstGeom prst="roundRect">
            <a:avLst>
              <a:gd name="adj" fmla="val 10000"/>
            </a:avLst>
          </a:prstGeom>
          <a:solidFill>
            <a:srgbClr val="101629"/>
          </a:solidFill>
          <a:ln w="0">
            <a:noFill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BE36D6C-2544-44BA-B656-E8EC2558F36F}"/>
              </a:ext>
            </a:extLst>
          </p:cNvPr>
          <p:cNvSpPr>
            <a:spLocks noGrp="1"/>
          </p:cNvSpPr>
          <p:nvPr/>
        </p:nvSpPr>
        <p:spPr>
          <a:xfrm>
            <a:off x="809625" y="2571750"/>
            <a:ext cx="1285875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350" b="1">
                <a:solidFill>
                  <a:srgbClr val="F5F7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7FF"/>
                </a:solidFill>
                <a:latin typeface="Arial"/>
                <a:ea typeface="Arial"/>
                <a:cs typeface="Arial"/>
              </a:rPr>
              <a:t>Achievement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25DCD0A-6E4E-4DEA-B259-30FAE5471628}"/>
              </a:ext>
            </a:extLst>
          </p:cNvPr>
          <p:cNvSpPr>
            <a:spLocks noGrp="1"/>
          </p:cNvSpPr>
          <p:nvPr/>
        </p:nvSpPr>
        <p:spPr>
          <a:xfrm>
            <a:off x="2238375" y="2562225"/>
            <a:ext cx="2667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6667" lnSpcReduction="10000"/>
          </a:bodyPr>
          <a:lstStyle/>
          <a:p>
            <a:pPr>
              <a:defRPr sz="2400" b="1">
                <a:solidFill>
                  <a:srgbClr val="00D8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D8FF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384962D-454D-4325-99B7-9957AACD89A3}"/>
              </a:ext>
            </a:extLst>
          </p:cNvPr>
          <p:cNvSpPr>
            <a:spLocks noGrp="1"/>
          </p:cNvSpPr>
          <p:nvPr/>
        </p:nvSpPr>
        <p:spPr>
          <a:xfrm>
            <a:off x="2514600" y="2381250"/>
            <a:ext cx="1571625" cy="762000"/>
          </a:xfrm>
          <a:prstGeom prst="roundRect">
            <a:avLst>
              <a:gd name="adj" fmla="val 10000"/>
            </a:avLst>
          </a:prstGeom>
          <a:solidFill>
            <a:srgbClr val="101629"/>
          </a:solidFill>
          <a:ln w="0">
            <a:noFill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2C4C7A0-A4E7-4C57-BF43-BC77CB008E3B}"/>
              </a:ext>
            </a:extLst>
          </p:cNvPr>
          <p:cNvSpPr>
            <a:spLocks noGrp="1"/>
          </p:cNvSpPr>
          <p:nvPr/>
        </p:nvSpPr>
        <p:spPr>
          <a:xfrm>
            <a:off x="2657475" y="2571750"/>
            <a:ext cx="1285875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350" b="1">
                <a:solidFill>
                  <a:srgbClr val="F5F7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7FF"/>
                </a:solidFill>
                <a:latin typeface="Arial"/>
                <a:ea typeface="Arial"/>
                <a:cs typeface="Arial"/>
              </a:rPr>
              <a:t>Wallet sign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F06F817-0CFC-42D5-BE4E-FB5A7602D56C}"/>
              </a:ext>
            </a:extLst>
          </p:cNvPr>
          <p:cNvSpPr>
            <a:spLocks noGrp="1"/>
          </p:cNvSpPr>
          <p:nvPr/>
        </p:nvSpPr>
        <p:spPr>
          <a:xfrm>
            <a:off x="4086225" y="2562225"/>
            <a:ext cx="2667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6667" lnSpcReduction="10000"/>
          </a:bodyPr>
          <a:lstStyle/>
          <a:p>
            <a:pPr>
              <a:defRPr sz="2400" b="1">
                <a:solidFill>
                  <a:srgbClr val="00D8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D8FF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8F94B82-40FE-461C-8454-41F4EC4480BF}"/>
              </a:ext>
            </a:extLst>
          </p:cNvPr>
          <p:cNvSpPr>
            <a:spLocks noGrp="1"/>
          </p:cNvSpPr>
          <p:nvPr/>
        </p:nvSpPr>
        <p:spPr>
          <a:xfrm>
            <a:off x="4362450" y="2381250"/>
            <a:ext cx="1571625" cy="762000"/>
          </a:xfrm>
          <a:prstGeom prst="roundRect">
            <a:avLst>
              <a:gd name="adj" fmla="val 10000"/>
            </a:avLst>
          </a:prstGeom>
          <a:solidFill>
            <a:srgbClr val="101629"/>
          </a:solidFill>
          <a:ln w="0">
            <a:noFill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0433B18-FA8E-415C-A3C5-9FA1D4224DA4}"/>
              </a:ext>
            </a:extLst>
          </p:cNvPr>
          <p:cNvSpPr>
            <a:spLocks noGrp="1"/>
          </p:cNvSpPr>
          <p:nvPr/>
        </p:nvSpPr>
        <p:spPr>
          <a:xfrm>
            <a:off x="4505325" y="2571750"/>
            <a:ext cx="1285875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8069"/>
          </a:bodyPr>
          <a:lstStyle/>
          <a:p>
            <a:pPr>
              <a:defRPr sz="1350" b="1">
                <a:solidFill>
                  <a:srgbClr val="F5F7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7FF"/>
                </a:solidFill>
                <a:latin typeface="Arial"/>
                <a:ea typeface="Arial"/>
                <a:cs typeface="Arial"/>
              </a:rPr>
              <a:t>Devnet memo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39D1533-A851-4E62-B0C7-F4D86E67DF67}"/>
              </a:ext>
            </a:extLst>
          </p:cNvPr>
          <p:cNvSpPr>
            <a:spLocks noGrp="1"/>
          </p:cNvSpPr>
          <p:nvPr/>
        </p:nvSpPr>
        <p:spPr>
          <a:xfrm>
            <a:off x="5934075" y="2562225"/>
            <a:ext cx="2667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6667" lnSpcReduction="10000"/>
          </a:bodyPr>
          <a:lstStyle/>
          <a:p>
            <a:pPr>
              <a:defRPr sz="2400" b="1">
                <a:solidFill>
                  <a:srgbClr val="00D8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D8FF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DA4003C-0BDA-4D83-9D8F-E530CA8CD849}"/>
              </a:ext>
            </a:extLst>
          </p:cNvPr>
          <p:cNvSpPr>
            <a:spLocks noGrp="1"/>
          </p:cNvSpPr>
          <p:nvPr/>
        </p:nvSpPr>
        <p:spPr>
          <a:xfrm>
            <a:off x="6210300" y="2381250"/>
            <a:ext cx="1571625" cy="762000"/>
          </a:xfrm>
          <a:prstGeom prst="roundRect">
            <a:avLst>
              <a:gd name="adj" fmla="val 10000"/>
            </a:avLst>
          </a:prstGeom>
          <a:solidFill>
            <a:srgbClr val="101629"/>
          </a:solidFill>
          <a:ln w="0">
            <a:noFill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5879B97-4618-4A70-B33A-418157347E05}"/>
              </a:ext>
            </a:extLst>
          </p:cNvPr>
          <p:cNvSpPr>
            <a:spLocks noGrp="1"/>
          </p:cNvSpPr>
          <p:nvPr/>
        </p:nvSpPr>
        <p:spPr>
          <a:xfrm>
            <a:off x="6353175" y="2571750"/>
            <a:ext cx="1285875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703"/>
          </a:bodyPr>
          <a:lstStyle/>
          <a:p>
            <a:pPr>
              <a:defRPr sz="1350" b="1">
                <a:solidFill>
                  <a:srgbClr val="F5F7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7FF"/>
                </a:solidFill>
                <a:latin typeface="Arial"/>
                <a:ea typeface="Arial"/>
                <a:cs typeface="Arial"/>
              </a:rPr>
              <a:t>Explorer proof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38C3009-9466-4FFD-9BF6-BB3D673C932A}"/>
              </a:ext>
            </a:extLst>
          </p:cNvPr>
          <p:cNvSpPr>
            <a:spLocks noGrp="1"/>
          </p:cNvSpPr>
          <p:nvPr/>
        </p:nvSpPr>
        <p:spPr>
          <a:xfrm>
            <a:off x="7781925" y="2562225"/>
            <a:ext cx="2667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6667" lnSpcReduction="10000"/>
          </a:bodyPr>
          <a:lstStyle/>
          <a:p>
            <a:pPr>
              <a:defRPr sz="2400" b="1">
                <a:solidFill>
                  <a:srgbClr val="00D8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D8FF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FF2146A-9A7D-4233-8B12-0A858AB7D171}"/>
              </a:ext>
            </a:extLst>
          </p:cNvPr>
          <p:cNvSpPr>
            <a:spLocks noGrp="1"/>
          </p:cNvSpPr>
          <p:nvPr/>
        </p:nvSpPr>
        <p:spPr>
          <a:xfrm>
            <a:off x="8058150" y="2381250"/>
            <a:ext cx="1571625" cy="762000"/>
          </a:xfrm>
          <a:prstGeom prst="roundRect">
            <a:avLst>
              <a:gd name="adj" fmla="val 10000"/>
            </a:avLst>
          </a:prstGeom>
          <a:solidFill>
            <a:srgbClr val="101629"/>
          </a:solidFill>
          <a:ln w="0">
            <a:noFill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2933C09-5200-4304-8960-EBCFF565F007}"/>
              </a:ext>
            </a:extLst>
          </p:cNvPr>
          <p:cNvSpPr>
            <a:spLocks noGrp="1"/>
          </p:cNvSpPr>
          <p:nvPr/>
        </p:nvSpPr>
        <p:spPr>
          <a:xfrm>
            <a:off x="8201025" y="2571750"/>
            <a:ext cx="1285875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350" b="1">
                <a:solidFill>
                  <a:srgbClr val="F5F7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7FF"/>
                </a:solidFill>
                <a:latin typeface="Arial"/>
                <a:ea typeface="Arial"/>
                <a:cs typeface="Arial"/>
              </a:rPr>
              <a:t>Daily quest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FED7DC2-41DA-4C39-8EAE-DF831BC0C558}"/>
              </a:ext>
            </a:extLst>
          </p:cNvPr>
          <p:cNvSpPr>
            <a:spLocks noGrp="1"/>
          </p:cNvSpPr>
          <p:nvPr/>
        </p:nvSpPr>
        <p:spPr>
          <a:xfrm>
            <a:off x="876300" y="3905250"/>
            <a:ext cx="49530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9667" lnSpcReduction="20000"/>
          </a:bodyPr>
          <a:lstStyle/>
          <a:p>
            <a:pPr>
              <a:defRPr sz="1875" b="1">
                <a:solidFill>
                  <a:srgbClr val="00D8FF"/>
                </a:solidFill>
                <a:latin typeface="Arial"/>
                <a:ea typeface="Arial"/>
                <a:cs typeface="Arial"/>
              </a:defRPr>
            </a:pPr>
            <a:r>
              <a:rPr sz="1875" b="1" dirty="0">
                <a:solidFill>
                  <a:srgbClr val="00D8FF"/>
                </a:solidFill>
                <a:latin typeface="Arial"/>
                <a:ea typeface="Arial"/>
                <a:cs typeface="Arial"/>
              </a:rPr>
              <a:t>On-Chain Achievement Verification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2032825-5D5C-4DFF-81FA-5F94A1BECD6E}"/>
              </a:ext>
            </a:extLst>
          </p:cNvPr>
          <p:cNvSpPr>
            <a:spLocks noGrp="1"/>
          </p:cNvSpPr>
          <p:nvPr/>
        </p:nvSpPr>
        <p:spPr>
          <a:xfrm>
            <a:off x="876300" y="4305300"/>
            <a:ext cx="9667875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500" b="0">
                <a:solidFill>
                  <a:srgbClr val="F5F7FF"/>
                </a:solidFill>
                <a:latin typeface="Arial"/>
                <a:ea typeface="Arial"/>
                <a:cs typeface="Arial"/>
              </a:defRPr>
            </a:pPr>
            <a:r>
              <a:rPr sz="1500" b="0" dirty="0">
                <a:solidFill>
                  <a:srgbClr val="F5F7FF"/>
                </a:solidFill>
                <a:latin typeface="Arial"/>
                <a:ea typeface="Arial"/>
                <a:cs typeface="Arial"/>
              </a:rPr>
              <a:t>An achievement can be verified on Solana </a:t>
            </a:r>
            <a:r>
              <a:rPr sz="1500" b="0" dirty="0" err="1">
                <a:solidFill>
                  <a:srgbClr val="F5F7FF"/>
                </a:solidFill>
                <a:latin typeface="Arial"/>
                <a:ea typeface="Arial"/>
                <a:cs typeface="Arial"/>
              </a:rPr>
              <a:t>Devnet</a:t>
            </a:r>
            <a:r>
              <a:rPr sz="1500" b="0" dirty="0">
                <a:solidFill>
                  <a:srgbClr val="F5F7FF"/>
                </a:solidFill>
                <a:latin typeface="Arial"/>
                <a:ea typeface="Arial"/>
                <a:cs typeface="Arial"/>
              </a:rPr>
              <a:t> through a wallet-signed transaction. The transaction includes a Memo identifying the achievement and can be opened in Solana Explorer.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99DF3F6-FEE9-459D-BE28-7CF2632BAE09}"/>
              </a:ext>
            </a:extLst>
          </p:cNvPr>
          <p:cNvSpPr>
            <a:spLocks noGrp="1"/>
          </p:cNvSpPr>
          <p:nvPr/>
        </p:nvSpPr>
        <p:spPr>
          <a:xfrm>
            <a:off x="876300" y="5143500"/>
            <a:ext cx="9525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4444" lnSpcReduction="10000"/>
          </a:bodyPr>
          <a:lstStyle/>
          <a:p>
            <a:pPr>
              <a:defRPr sz="1350" b="0">
                <a:solidFill>
                  <a:srgbClr val="F5F7FF"/>
                </a:solidFill>
                <a:latin typeface="Arial"/>
                <a:ea typeface="Arial"/>
                <a:cs typeface="Arial"/>
              </a:defRPr>
            </a:pPr>
            <a:r>
              <a:rPr sz="1350" b="0" dirty="0">
                <a:solidFill>
                  <a:srgbClr val="F5F7FF"/>
                </a:solidFill>
                <a:latin typeface="Arial"/>
                <a:ea typeface="Arial"/>
                <a:cs typeface="Arial"/>
              </a:rPr>
              <a:t>For Seeker Daily Quest, a verified wallet can earn +5 in-app Coins once per day after a qualifying quiz.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DB8CF47-84A4-4297-A0B1-87E5E629E02F}"/>
              </a:ext>
            </a:extLst>
          </p:cNvPr>
          <p:cNvSpPr>
            <a:spLocks noGrp="1"/>
          </p:cNvSpPr>
          <p:nvPr/>
        </p:nvSpPr>
        <p:spPr>
          <a:xfrm>
            <a:off x="876300" y="5610225"/>
            <a:ext cx="76200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7892" lnSpcReduction="10000"/>
          </a:bodyPr>
          <a:lstStyle/>
          <a:p>
            <a:pPr>
              <a:defRPr sz="1275" b="0">
                <a:solidFill>
                  <a:srgbClr val="A9B5D0"/>
                </a:solidFill>
                <a:latin typeface="Arial"/>
                <a:ea typeface="Arial"/>
                <a:cs typeface="Arial"/>
              </a:defRPr>
            </a:pPr>
            <a:r>
              <a:rPr lang="en-US" dirty="0"/>
              <a:t>No NFT or token reward is involved; SKR integration is not part of the current prototype.</a:t>
            </a:r>
            <a:endParaRPr sz="1275" b="0" dirty="0">
              <a:solidFill>
                <a:srgbClr val="A9B5D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0FB1C32-349A-46DD-85CE-431744482919}"/>
              </a:ext>
            </a:extLst>
          </p:cNvPr>
          <p:cNvSpPr>
            <a:spLocks noGrp="1"/>
          </p:cNvSpPr>
          <p:nvPr/>
        </p:nvSpPr>
        <p:spPr>
          <a:xfrm>
            <a:off x="685800" y="6486525"/>
            <a:ext cx="333375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7500" lnSpcReduction="20000"/>
          </a:bodyPr>
          <a:lstStyle/>
          <a:p>
            <a:pPr>
              <a:defRPr sz="750" b="0">
                <a:solidFill>
                  <a:srgbClr val="A9B5D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9B5D0"/>
                </a:solidFill>
                <a:latin typeface="Arial"/>
                <a:ea typeface="Arial"/>
                <a:cs typeface="Arial"/>
              </a:rPr>
              <a:t>NOVA AI QUEST  |  CLOCK IN 2026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8C89CD2-209C-45CC-AD46-5FB9CCD42FB1}"/>
              </a:ext>
            </a:extLst>
          </p:cNvPr>
          <p:cNvSpPr>
            <a:spLocks noGrp="1"/>
          </p:cNvSpPr>
          <p:nvPr/>
        </p:nvSpPr>
        <p:spPr>
          <a:xfrm>
            <a:off x="11144250" y="6486525"/>
            <a:ext cx="36195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7500" lnSpcReduction="20000"/>
          </a:bodyPr>
          <a:lstStyle/>
          <a:p>
            <a:pPr>
              <a:defRPr sz="750" b="0">
                <a:solidFill>
                  <a:srgbClr val="A9B5D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9B5D0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5780240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92BC8660-2FF1-42E3-A96B-650BE6868132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125" b="1">
                <a:solidFill>
                  <a:srgbClr val="00D8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D8FF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452B14C-1D1B-457F-B1B5-D8D0F6CAAA9E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1047750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550" b="1">
                <a:solidFill>
                  <a:srgbClr val="F5F7FF"/>
                </a:solidFill>
                <a:latin typeface="Arial"/>
                <a:ea typeface="Arial"/>
                <a:cs typeface="Arial"/>
              </a:defRPr>
            </a:pPr>
            <a:r>
              <a:rPr sz="2550" b="1" dirty="0">
                <a:solidFill>
                  <a:srgbClr val="F5F7FF"/>
                </a:solidFill>
                <a:latin typeface="Arial"/>
                <a:ea typeface="Arial"/>
                <a:cs typeface="Arial"/>
              </a:rPr>
              <a:t>Product experience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AC9F903-0821-455E-8F01-E91F9432C052}"/>
              </a:ext>
            </a:extLst>
          </p:cNvPr>
          <p:cNvSpPr>
            <a:spLocks noGrp="1"/>
          </p:cNvSpPr>
          <p:nvPr/>
        </p:nvSpPr>
        <p:spPr>
          <a:xfrm>
            <a:off x="685800" y="1274508"/>
            <a:ext cx="100012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275" b="0">
                <a:solidFill>
                  <a:srgbClr val="A9B5D0"/>
                </a:solidFill>
                <a:latin typeface="Arial"/>
                <a:ea typeface="Arial"/>
                <a:cs typeface="Arial"/>
              </a:defRPr>
            </a:pPr>
            <a:r>
              <a:rPr sz="1275" b="0" dirty="0">
                <a:solidFill>
                  <a:srgbClr val="A9B5D0"/>
                </a:solidFill>
                <a:latin typeface="Arial"/>
                <a:ea typeface="Arial"/>
                <a:cs typeface="Arial"/>
              </a:rPr>
              <a:t>The prototype uses a cohesive dark, game-inspired interface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A4DB74D-BA38-47E6-9FE8-88A80E40B8AF}"/>
              </a:ext>
            </a:extLst>
          </p:cNvPr>
          <p:cNvSpPr>
            <a:spLocks noGrp="1"/>
          </p:cNvSpPr>
          <p:nvPr/>
        </p:nvSpPr>
        <p:spPr>
          <a:xfrm>
            <a:off x="685800" y="1915142"/>
            <a:ext cx="2266950" cy="3476625"/>
          </a:xfrm>
          <a:prstGeom prst="roundRect">
            <a:avLst>
              <a:gd name="adj" fmla="val 3361"/>
            </a:avLst>
          </a:prstGeom>
          <a:solidFill>
            <a:srgbClr val="101629"/>
          </a:solidFill>
          <a:ln w="0">
            <a:noFill/>
          </a:ln>
        </p:spPr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CBDCDED-AAA5-4D5E-BF0D-DBD3A05173A4}"/>
              </a:ext>
            </a:extLst>
          </p:cNvPr>
          <p:cNvSpPr>
            <a:spLocks noGrp="1"/>
          </p:cNvSpPr>
          <p:nvPr/>
        </p:nvSpPr>
        <p:spPr>
          <a:xfrm>
            <a:off x="3356792" y="1928042"/>
            <a:ext cx="2266950" cy="3476624"/>
          </a:xfrm>
          <a:prstGeom prst="roundRect">
            <a:avLst>
              <a:gd name="adj" fmla="val 3361"/>
            </a:avLst>
          </a:prstGeom>
          <a:solidFill>
            <a:srgbClr val="101629"/>
          </a:solidFill>
          <a:ln w="0">
            <a:noFill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E5188B3-6C52-4671-9980-5EB01461B426}"/>
              </a:ext>
            </a:extLst>
          </p:cNvPr>
          <p:cNvSpPr>
            <a:spLocks noGrp="1"/>
          </p:cNvSpPr>
          <p:nvPr/>
        </p:nvSpPr>
        <p:spPr>
          <a:xfrm>
            <a:off x="4124325" y="2971800"/>
            <a:ext cx="809625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700" b="1">
                <a:solidFill>
                  <a:srgbClr val="F5F7FF"/>
                </a:solidFill>
                <a:latin typeface="Arial"/>
                <a:ea typeface="Arial"/>
                <a:cs typeface="Arial"/>
              </a:defRPr>
            </a:pPr>
            <a:endParaRPr sz="2700" b="1" dirty="0">
              <a:solidFill>
                <a:srgbClr val="F5F7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9A18DF9-D764-4404-9DF2-64AA25BE3278}"/>
              </a:ext>
            </a:extLst>
          </p:cNvPr>
          <p:cNvSpPr>
            <a:spLocks noGrp="1"/>
          </p:cNvSpPr>
          <p:nvPr/>
        </p:nvSpPr>
        <p:spPr>
          <a:xfrm>
            <a:off x="3491222" y="1644751"/>
            <a:ext cx="1809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4167" lnSpcReduction="20000"/>
          </a:bodyPr>
          <a:lstStyle/>
          <a:p>
            <a:pPr>
              <a:defRPr sz="1500" b="1">
                <a:solidFill>
                  <a:srgbClr val="F5F7FF"/>
                </a:solidFill>
                <a:latin typeface="Arial"/>
                <a:ea typeface="Arial"/>
                <a:cs typeface="Arial"/>
              </a:defRPr>
            </a:pPr>
            <a:r>
              <a:rPr sz="1500" b="1" dirty="0">
                <a:solidFill>
                  <a:srgbClr val="F5F7FF"/>
                </a:solidFill>
                <a:latin typeface="Arial"/>
                <a:ea typeface="Arial"/>
                <a:cs typeface="Arial"/>
              </a:rPr>
              <a:t>Journey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8C46B54-DCCF-4062-894E-82A8486DC355}"/>
              </a:ext>
            </a:extLst>
          </p:cNvPr>
          <p:cNvSpPr>
            <a:spLocks noGrp="1"/>
          </p:cNvSpPr>
          <p:nvPr/>
        </p:nvSpPr>
        <p:spPr>
          <a:xfrm>
            <a:off x="3619500" y="5502687"/>
            <a:ext cx="180975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050" b="0">
                <a:solidFill>
                  <a:srgbClr val="A9B5D0"/>
                </a:solidFill>
                <a:latin typeface="Arial"/>
                <a:ea typeface="Arial"/>
                <a:cs typeface="Arial"/>
              </a:defRPr>
            </a:pPr>
            <a:r>
              <a:rPr sz="1050" b="0" dirty="0">
                <a:solidFill>
                  <a:srgbClr val="A9B5D0"/>
                </a:solidFill>
                <a:latin typeface="Arial"/>
                <a:ea typeface="Arial"/>
                <a:cs typeface="Arial"/>
              </a:rPr>
              <a:t>Chapter map and progress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99F9C993-CA2B-4F9A-92DB-D881EE0A1A7B}"/>
              </a:ext>
            </a:extLst>
          </p:cNvPr>
          <p:cNvSpPr>
            <a:spLocks noGrp="1"/>
          </p:cNvSpPr>
          <p:nvPr/>
        </p:nvSpPr>
        <p:spPr>
          <a:xfrm>
            <a:off x="6038849" y="1915142"/>
            <a:ext cx="2266950" cy="3476624"/>
          </a:xfrm>
          <a:prstGeom prst="roundRect">
            <a:avLst>
              <a:gd name="adj" fmla="val 3361"/>
            </a:avLst>
          </a:prstGeom>
          <a:solidFill>
            <a:srgbClr val="101629"/>
          </a:solidFill>
          <a:ln w="0">
            <a:noFill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2782F61-6F46-4EC0-97EE-B05E65791CD8}"/>
              </a:ext>
            </a:extLst>
          </p:cNvPr>
          <p:cNvSpPr>
            <a:spLocks noGrp="1"/>
          </p:cNvSpPr>
          <p:nvPr/>
        </p:nvSpPr>
        <p:spPr>
          <a:xfrm>
            <a:off x="6134102" y="1651975"/>
            <a:ext cx="1809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4167" lnSpcReduction="20000"/>
          </a:bodyPr>
          <a:lstStyle/>
          <a:p>
            <a:pPr>
              <a:defRPr sz="1500" b="1">
                <a:solidFill>
                  <a:srgbClr val="F5F7FF"/>
                </a:solidFill>
                <a:latin typeface="Arial"/>
                <a:ea typeface="Arial"/>
                <a:cs typeface="Arial"/>
              </a:defRPr>
            </a:pPr>
            <a:r>
              <a:rPr sz="1500" b="1" dirty="0">
                <a:solidFill>
                  <a:srgbClr val="F5F7FF"/>
                </a:solidFill>
                <a:latin typeface="Arial"/>
                <a:ea typeface="Arial"/>
                <a:cs typeface="Arial"/>
              </a:rPr>
              <a:t>Quiz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07E4F7C-2D66-477F-9120-B76D2B017D71}"/>
              </a:ext>
            </a:extLst>
          </p:cNvPr>
          <p:cNvSpPr>
            <a:spLocks noGrp="1"/>
          </p:cNvSpPr>
          <p:nvPr/>
        </p:nvSpPr>
        <p:spPr>
          <a:xfrm>
            <a:off x="6334125" y="5502686"/>
            <a:ext cx="180975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050" b="0">
                <a:solidFill>
                  <a:srgbClr val="A9B5D0"/>
                </a:solidFill>
                <a:latin typeface="Arial"/>
                <a:ea typeface="Arial"/>
                <a:cs typeface="Arial"/>
              </a:defRPr>
            </a:pPr>
            <a:r>
              <a:rPr sz="1050" b="0" dirty="0">
                <a:solidFill>
                  <a:srgbClr val="A9B5D0"/>
                </a:solidFill>
                <a:latin typeface="Arial"/>
                <a:ea typeface="Arial"/>
                <a:cs typeface="Arial"/>
              </a:rPr>
              <a:t>Question feedback and explanation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1D2A29C6-AF22-4784-96EF-BF8099B02FED}"/>
              </a:ext>
            </a:extLst>
          </p:cNvPr>
          <p:cNvSpPr>
            <a:spLocks noGrp="1"/>
          </p:cNvSpPr>
          <p:nvPr/>
        </p:nvSpPr>
        <p:spPr>
          <a:xfrm>
            <a:off x="8844271" y="1915142"/>
            <a:ext cx="2266950" cy="3476624"/>
          </a:xfrm>
          <a:prstGeom prst="roundRect">
            <a:avLst>
              <a:gd name="adj" fmla="val 3361"/>
            </a:avLst>
          </a:prstGeom>
          <a:solidFill>
            <a:srgbClr val="101629"/>
          </a:solidFill>
          <a:ln w="0">
            <a:noFill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8F67058-C9E3-4245-9627-FDDF1107300B}"/>
              </a:ext>
            </a:extLst>
          </p:cNvPr>
          <p:cNvSpPr>
            <a:spLocks noGrp="1"/>
          </p:cNvSpPr>
          <p:nvPr/>
        </p:nvSpPr>
        <p:spPr>
          <a:xfrm>
            <a:off x="8965788" y="1661342"/>
            <a:ext cx="1809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4167" lnSpcReduction="20000"/>
          </a:bodyPr>
          <a:lstStyle/>
          <a:p>
            <a:pPr>
              <a:defRPr sz="1500" b="1">
                <a:solidFill>
                  <a:srgbClr val="F5F7FF"/>
                </a:solidFill>
                <a:latin typeface="Arial"/>
                <a:ea typeface="Arial"/>
                <a:cs typeface="Arial"/>
              </a:defRPr>
            </a:pPr>
            <a:r>
              <a:rPr sz="1500" b="1" dirty="0">
                <a:solidFill>
                  <a:srgbClr val="F5F7FF"/>
                </a:solidFill>
                <a:latin typeface="Arial"/>
                <a:ea typeface="Arial"/>
                <a:cs typeface="Arial"/>
              </a:rPr>
              <a:t>Achievements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DFDE2F0-44A2-46E2-8C57-5BDD781C07A0}"/>
              </a:ext>
            </a:extLst>
          </p:cNvPr>
          <p:cNvSpPr>
            <a:spLocks noGrp="1"/>
          </p:cNvSpPr>
          <p:nvPr/>
        </p:nvSpPr>
        <p:spPr>
          <a:xfrm>
            <a:off x="9048750" y="5502682"/>
            <a:ext cx="180975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050" b="0">
                <a:solidFill>
                  <a:srgbClr val="A9B5D0"/>
                </a:solidFill>
                <a:latin typeface="Arial"/>
                <a:ea typeface="Arial"/>
                <a:cs typeface="Arial"/>
              </a:defRPr>
            </a:pPr>
            <a:r>
              <a:rPr sz="1050" b="0" dirty="0">
                <a:solidFill>
                  <a:srgbClr val="A9B5D0"/>
                </a:solidFill>
                <a:latin typeface="Arial"/>
                <a:ea typeface="Arial"/>
                <a:cs typeface="Arial"/>
              </a:rPr>
              <a:t>Milestones and wallet verification action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715701C-B949-4E3D-AD7B-E3ECD0ABF1F1}"/>
              </a:ext>
            </a:extLst>
          </p:cNvPr>
          <p:cNvSpPr>
            <a:spLocks noGrp="1"/>
          </p:cNvSpPr>
          <p:nvPr/>
        </p:nvSpPr>
        <p:spPr>
          <a:xfrm>
            <a:off x="685800" y="6486525"/>
            <a:ext cx="333375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7500" lnSpcReduction="20000"/>
          </a:bodyPr>
          <a:lstStyle/>
          <a:p>
            <a:pPr>
              <a:defRPr sz="750" b="0">
                <a:solidFill>
                  <a:srgbClr val="A9B5D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9B5D0"/>
                </a:solidFill>
                <a:latin typeface="Arial"/>
                <a:ea typeface="Arial"/>
                <a:cs typeface="Arial"/>
              </a:rPr>
              <a:t>NOVA AI QUEST  |  CLOCK IN 2026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07B0419-48C8-496F-9B74-B4D912D33FD9}"/>
              </a:ext>
            </a:extLst>
          </p:cNvPr>
          <p:cNvSpPr>
            <a:spLocks noGrp="1"/>
          </p:cNvSpPr>
          <p:nvPr/>
        </p:nvSpPr>
        <p:spPr>
          <a:xfrm>
            <a:off x="11144250" y="6486525"/>
            <a:ext cx="36195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7500" lnSpcReduction="20000"/>
          </a:bodyPr>
          <a:lstStyle/>
          <a:p>
            <a:pPr>
              <a:defRPr sz="750" b="0">
                <a:solidFill>
                  <a:srgbClr val="A9B5D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9B5D0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85DAC6E9-298B-2038-910C-A03BBF59E9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975" y="1987594"/>
            <a:ext cx="1656117" cy="3275433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5AD4A962-263D-45FA-96E1-C76E00FED2D1}"/>
              </a:ext>
            </a:extLst>
          </p:cNvPr>
          <p:cNvSpPr>
            <a:spLocks noGrp="1"/>
          </p:cNvSpPr>
          <p:nvPr/>
        </p:nvSpPr>
        <p:spPr>
          <a:xfrm>
            <a:off x="848342" y="1650282"/>
            <a:ext cx="1809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4167" lnSpcReduction="20000"/>
          </a:bodyPr>
          <a:lstStyle/>
          <a:p>
            <a:pPr>
              <a:defRPr sz="1500" b="1">
                <a:solidFill>
                  <a:srgbClr val="F5F7FF"/>
                </a:solidFill>
                <a:latin typeface="Arial"/>
                <a:ea typeface="Arial"/>
                <a:cs typeface="Arial"/>
              </a:defRPr>
            </a:pPr>
            <a:r>
              <a:rPr sz="1500" b="1" dirty="0">
                <a:solidFill>
                  <a:srgbClr val="F5F7FF"/>
                </a:solidFill>
                <a:latin typeface="Arial"/>
                <a:ea typeface="Arial"/>
                <a:cs typeface="Arial"/>
              </a:rPr>
              <a:t>Home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61FD1C2-3C2C-4D83-A1FA-9AE67D241193}"/>
              </a:ext>
            </a:extLst>
          </p:cNvPr>
          <p:cNvSpPr>
            <a:spLocks noGrp="1"/>
          </p:cNvSpPr>
          <p:nvPr/>
        </p:nvSpPr>
        <p:spPr>
          <a:xfrm>
            <a:off x="904875" y="5428952"/>
            <a:ext cx="180975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050" b="0">
                <a:solidFill>
                  <a:srgbClr val="A9B5D0"/>
                </a:solidFill>
                <a:latin typeface="Arial"/>
                <a:ea typeface="Arial"/>
                <a:cs typeface="Arial"/>
              </a:defRPr>
            </a:pPr>
            <a:r>
              <a:rPr sz="1050" b="0" dirty="0">
                <a:solidFill>
                  <a:srgbClr val="A9B5D0"/>
                </a:solidFill>
                <a:latin typeface="Arial"/>
                <a:ea typeface="Arial"/>
                <a:cs typeface="Arial"/>
              </a:rPr>
              <a:t>Goal input, player stats, Seeker Quest, cosmetics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B090EE7B-AFD5-89EE-8014-37A5D6A3E46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158887" y="1987594"/>
            <a:ext cx="1637716" cy="3275433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0B81FC14-046C-FD6D-AB29-A46EB902F92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26356" y="1987592"/>
            <a:ext cx="1619719" cy="3275433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42562A3A-6E29-CD94-32F1-B3C76E2BA08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92778" y="1987593"/>
            <a:ext cx="1627544" cy="3275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36859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4DCBB06B-2C66-4823-983C-592AF6FBA502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125" b="1">
                <a:solidFill>
                  <a:srgbClr val="00D8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D8FF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4ED6CB2-9CA1-4464-921A-C34CDBF31115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1047750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550" b="1">
                <a:solidFill>
                  <a:srgbClr val="F5F7FF"/>
                </a:solidFill>
                <a:latin typeface="Arial"/>
                <a:ea typeface="Arial"/>
                <a:cs typeface="Arial"/>
              </a:defRPr>
            </a:pPr>
            <a:r>
              <a:rPr sz="2550" b="1" dirty="0">
                <a:solidFill>
                  <a:srgbClr val="F5F7FF"/>
                </a:solidFill>
                <a:latin typeface="Arial"/>
                <a:ea typeface="Arial"/>
                <a:cs typeface="Arial"/>
              </a:rPr>
              <a:t>Technology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F776A02-308F-4FB6-A853-C4A3B224EB01}"/>
              </a:ext>
            </a:extLst>
          </p:cNvPr>
          <p:cNvSpPr>
            <a:spLocks noGrp="1"/>
          </p:cNvSpPr>
          <p:nvPr/>
        </p:nvSpPr>
        <p:spPr>
          <a:xfrm>
            <a:off x="685800" y="1333500"/>
            <a:ext cx="100012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275" b="0">
                <a:solidFill>
                  <a:srgbClr val="A9B5D0"/>
                </a:solidFill>
                <a:latin typeface="Arial"/>
                <a:ea typeface="Arial"/>
                <a:cs typeface="Arial"/>
              </a:defRPr>
            </a:pPr>
            <a:r>
              <a:rPr sz="1275" b="0" dirty="0">
                <a:solidFill>
                  <a:srgbClr val="A9B5D0"/>
                </a:solidFill>
                <a:latin typeface="Arial"/>
                <a:ea typeface="Arial"/>
                <a:cs typeface="Arial"/>
              </a:rPr>
              <a:t>Verified client-side stack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408B657-815F-43BC-8FEA-9DDBA9D3E443}"/>
              </a:ext>
            </a:extLst>
          </p:cNvPr>
          <p:cNvSpPr>
            <a:spLocks noGrp="1"/>
          </p:cNvSpPr>
          <p:nvPr/>
        </p:nvSpPr>
        <p:spPr>
          <a:xfrm>
            <a:off x="781050" y="2286000"/>
            <a:ext cx="3143250" cy="2381250"/>
          </a:xfrm>
          <a:prstGeom prst="roundRect">
            <a:avLst>
              <a:gd name="adj" fmla="val 3200"/>
            </a:avLst>
          </a:prstGeom>
          <a:solidFill>
            <a:srgbClr val="101629"/>
          </a:solidFill>
          <a:ln w="0">
            <a:noFill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A0A8A5-1CD6-49BF-85A2-DD4EA934C77A}"/>
              </a:ext>
            </a:extLst>
          </p:cNvPr>
          <p:cNvSpPr>
            <a:spLocks noGrp="1"/>
          </p:cNvSpPr>
          <p:nvPr/>
        </p:nvSpPr>
        <p:spPr>
          <a:xfrm>
            <a:off x="1019175" y="2619375"/>
            <a:ext cx="2619375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2348" lnSpcReduction="10000"/>
          </a:bodyPr>
          <a:lstStyle/>
          <a:p>
            <a:pPr>
              <a:defRPr sz="1650" b="1">
                <a:solidFill>
                  <a:srgbClr val="00D8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D8FF"/>
                </a:solidFill>
                <a:latin typeface="Arial"/>
                <a:ea typeface="Arial"/>
                <a:cs typeface="Arial"/>
              </a:rPr>
              <a:t>Android client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EA330CE-EC4C-47F9-9274-A71E36DA7118}"/>
              </a:ext>
            </a:extLst>
          </p:cNvPr>
          <p:cNvSpPr>
            <a:spLocks noGrp="1"/>
          </p:cNvSpPr>
          <p:nvPr/>
        </p:nvSpPr>
        <p:spPr>
          <a:xfrm>
            <a:off x="1019175" y="3190875"/>
            <a:ext cx="2571750" cy="1066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500" b="0">
                <a:solidFill>
                  <a:srgbClr val="F5F7FF"/>
                </a:solidFill>
                <a:latin typeface="Arial"/>
                <a:ea typeface="Arial"/>
                <a:cs typeface="Arial"/>
              </a:defRPr>
            </a:pPr>
            <a:r>
              <a:rPr sz="1500" b="0" dirty="0">
                <a:solidFill>
                  <a:srgbClr val="F5F7FF"/>
                </a:solidFill>
                <a:latin typeface="Arial"/>
                <a:ea typeface="Arial"/>
                <a:cs typeface="Arial"/>
              </a:rPr>
              <a:t>Kotlin</a:t>
            </a:r>
          </a:p>
          <a:p>
            <a:pPr>
              <a:defRPr sz="1500" b="0">
                <a:solidFill>
                  <a:srgbClr val="F5F7FF"/>
                </a:solidFill>
                <a:latin typeface="Arial"/>
                <a:ea typeface="Arial"/>
                <a:cs typeface="Arial"/>
              </a:defRPr>
            </a:pPr>
            <a:r>
              <a:rPr sz="1500" b="0" dirty="0">
                <a:solidFill>
                  <a:srgbClr val="F5F7FF"/>
                </a:solidFill>
                <a:latin typeface="Arial"/>
                <a:ea typeface="Arial"/>
                <a:cs typeface="Arial"/>
              </a:rPr>
              <a:t>Android SDK</a:t>
            </a:r>
          </a:p>
          <a:p>
            <a:pPr>
              <a:defRPr sz="1500" b="0">
                <a:solidFill>
                  <a:srgbClr val="F5F7FF"/>
                </a:solidFill>
                <a:latin typeface="Arial"/>
                <a:ea typeface="Arial"/>
                <a:cs typeface="Arial"/>
              </a:defRPr>
            </a:pPr>
            <a:r>
              <a:rPr sz="1500" b="0" dirty="0">
                <a:solidFill>
                  <a:srgbClr val="F5F7FF"/>
                </a:solidFill>
                <a:latin typeface="Arial"/>
                <a:ea typeface="Arial"/>
                <a:cs typeface="Arial"/>
              </a:rPr>
              <a:t>Material Components</a:t>
            </a:r>
          </a:p>
          <a:p>
            <a:pPr>
              <a:defRPr sz="1500" b="0">
                <a:solidFill>
                  <a:srgbClr val="F5F7FF"/>
                </a:solidFill>
                <a:latin typeface="Arial"/>
                <a:ea typeface="Arial"/>
                <a:cs typeface="Arial"/>
              </a:defRPr>
            </a:pPr>
            <a:r>
              <a:rPr sz="1500" b="0" dirty="0">
                <a:solidFill>
                  <a:srgbClr val="F5F7FF"/>
                </a:solidFill>
                <a:latin typeface="Arial"/>
                <a:ea typeface="Arial"/>
                <a:cs typeface="Arial"/>
              </a:rPr>
              <a:t>Coroutines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626127F-5917-452F-A9AC-CDCBFE3D5E8A}"/>
              </a:ext>
            </a:extLst>
          </p:cNvPr>
          <p:cNvSpPr>
            <a:spLocks noGrp="1"/>
          </p:cNvSpPr>
          <p:nvPr/>
        </p:nvSpPr>
        <p:spPr>
          <a:xfrm>
            <a:off x="4495800" y="2286000"/>
            <a:ext cx="3143250" cy="2381250"/>
          </a:xfrm>
          <a:prstGeom prst="roundRect">
            <a:avLst>
              <a:gd name="adj" fmla="val 3200"/>
            </a:avLst>
          </a:prstGeom>
          <a:solidFill>
            <a:srgbClr val="101629"/>
          </a:solidFill>
          <a:ln w="0">
            <a:noFill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D6B8834-37CE-4D6D-AA9B-EBA7A40A3661}"/>
              </a:ext>
            </a:extLst>
          </p:cNvPr>
          <p:cNvSpPr>
            <a:spLocks noGrp="1"/>
          </p:cNvSpPr>
          <p:nvPr/>
        </p:nvSpPr>
        <p:spPr>
          <a:xfrm>
            <a:off x="4733925" y="2619375"/>
            <a:ext cx="2619375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2348" lnSpcReduction="10000"/>
          </a:bodyPr>
          <a:lstStyle/>
          <a:p>
            <a:pPr>
              <a:defRPr sz="1650" b="1">
                <a:solidFill>
                  <a:srgbClr val="00D8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D8FF"/>
                </a:solidFill>
                <a:latin typeface="Arial"/>
                <a:ea typeface="Arial"/>
                <a:cs typeface="Arial"/>
              </a:rPr>
              <a:t>Data and network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C7D45E3-CF28-4C16-8C27-5BDF696E5AB2}"/>
              </a:ext>
            </a:extLst>
          </p:cNvPr>
          <p:cNvSpPr>
            <a:spLocks noGrp="1"/>
          </p:cNvSpPr>
          <p:nvPr/>
        </p:nvSpPr>
        <p:spPr>
          <a:xfrm>
            <a:off x="4733925" y="3190875"/>
            <a:ext cx="2571750" cy="1066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500" b="0">
                <a:solidFill>
                  <a:srgbClr val="F5F7FF"/>
                </a:solidFill>
                <a:latin typeface="Arial"/>
                <a:ea typeface="Arial"/>
                <a:cs typeface="Arial"/>
              </a:defRPr>
            </a:pPr>
            <a:r>
              <a:rPr sz="1500" b="0" dirty="0">
                <a:solidFill>
                  <a:srgbClr val="F5F7FF"/>
                </a:solidFill>
                <a:latin typeface="Arial"/>
                <a:ea typeface="Arial"/>
                <a:cs typeface="Arial"/>
              </a:rPr>
              <a:t>Firebase Authentication</a:t>
            </a:r>
          </a:p>
          <a:p>
            <a:pPr>
              <a:defRPr sz="1500" b="0">
                <a:solidFill>
                  <a:srgbClr val="F5F7FF"/>
                </a:solidFill>
                <a:latin typeface="Arial"/>
                <a:ea typeface="Arial"/>
                <a:cs typeface="Arial"/>
              </a:defRPr>
            </a:pPr>
            <a:r>
              <a:rPr sz="1500" b="0" dirty="0">
                <a:solidFill>
                  <a:srgbClr val="F5F7FF"/>
                </a:solidFill>
                <a:latin typeface="Arial"/>
                <a:ea typeface="Arial"/>
                <a:cs typeface="Arial"/>
              </a:rPr>
              <a:t>Cloud </a:t>
            </a:r>
            <a:r>
              <a:rPr sz="1500" b="0" dirty="0" err="1">
                <a:solidFill>
                  <a:srgbClr val="F5F7FF"/>
                </a:solidFill>
                <a:latin typeface="Arial"/>
                <a:ea typeface="Arial"/>
                <a:cs typeface="Arial"/>
              </a:rPr>
              <a:t>Firestore</a:t>
            </a:r>
            <a:endParaRPr sz="1500" b="0" dirty="0">
              <a:solidFill>
                <a:srgbClr val="F5F7FF"/>
              </a:solidFill>
              <a:latin typeface="Arial"/>
              <a:ea typeface="Arial"/>
              <a:cs typeface="Arial"/>
            </a:endParaRPr>
          </a:p>
          <a:p>
            <a:pPr>
              <a:defRPr sz="1500" b="0">
                <a:solidFill>
                  <a:srgbClr val="F5F7FF"/>
                </a:solidFill>
                <a:latin typeface="Arial"/>
                <a:ea typeface="Arial"/>
                <a:cs typeface="Arial"/>
              </a:defRPr>
            </a:pPr>
            <a:r>
              <a:rPr sz="1500" b="0" dirty="0">
                <a:solidFill>
                  <a:srgbClr val="F5F7FF"/>
                </a:solidFill>
                <a:latin typeface="Arial"/>
                <a:ea typeface="Arial"/>
                <a:cs typeface="Arial"/>
              </a:rPr>
              <a:t>Credential Manager</a:t>
            </a:r>
          </a:p>
          <a:p>
            <a:pPr>
              <a:defRPr sz="1500" b="0">
                <a:solidFill>
                  <a:srgbClr val="F5F7FF"/>
                </a:solidFill>
                <a:latin typeface="Arial"/>
                <a:ea typeface="Arial"/>
                <a:cs typeface="Arial"/>
              </a:defRPr>
            </a:pPr>
            <a:r>
              <a:rPr sz="1500" b="0" dirty="0">
                <a:solidFill>
                  <a:srgbClr val="F5F7FF"/>
                </a:solidFill>
                <a:latin typeface="Arial"/>
                <a:ea typeface="Arial"/>
                <a:cs typeface="Arial"/>
              </a:rPr>
              <a:t>Retrofit and </a:t>
            </a:r>
            <a:r>
              <a:rPr sz="1500" b="0" dirty="0" err="1">
                <a:solidFill>
                  <a:srgbClr val="F5F7FF"/>
                </a:solidFill>
                <a:latin typeface="Arial"/>
                <a:ea typeface="Arial"/>
                <a:cs typeface="Arial"/>
              </a:rPr>
              <a:t>Gson</a:t>
            </a:r>
            <a:endParaRPr sz="1500" b="0" dirty="0">
              <a:solidFill>
                <a:srgbClr val="F5F7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B5ED388-7025-41B7-B27D-6CFCF1721D04}"/>
              </a:ext>
            </a:extLst>
          </p:cNvPr>
          <p:cNvSpPr>
            <a:spLocks noGrp="1"/>
          </p:cNvSpPr>
          <p:nvPr/>
        </p:nvSpPr>
        <p:spPr>
          <a:xfrm>
            <a:off x="8210550" y="2286000"/>
            <a:ext cx="3143250" cy="2381250"/>
          </a:xfrm>
          <a:prstGeom prst="roundRect">
            <a:avLst>
              <a:gd name="adj" fmla="val 3200"/>
            </a:avLst>
          </a:prstGeom>
          <a:solidFill>
            <a:srgbClr val="101629"/>
          </a:solidFill>
          <a:ln w="0">
            <a:noFill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CB9E38D-676A-47F7-A5FF-32418732FC38}"/>
              </a:ext>
            </a:extLst>
          </p:cNvPr>
          <p:cNvSpPr>
            <a:spLocks noGrp="1"/>
          </p:cNvSpPr>
          <p:nvPr/>
        </p:nvSpPr>
        <p:spPr>
          <a:xfrm>
            <a:off x="8448675" y="2619375"/>
            <a:ext cx="2619375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2348" lnSpcReduction="10000"/>
          </a:bodyPr>
          <a:lstStyle/>
          <a:p>
            <a:pPr>
              <a:defRPr sz="1650" b="1">
                <a:solidFill>
                  <a:srgbClr val="00D8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D8FF"/>
                </a:solidFill>
                <a:latin typeface="Arial"/>
                <a:ea typeface="Arial"/>
                <a:cs typeface="Arial"/>
              </a:rPr>
              <a:t>Media and Solana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203BA2B-3DE3-4EC4-92F1-65DF7634DA6C}"/>
              </a:ext>
            </a:extLst>
          </p:cNvPr>
          <p:cNvSpPr>
            <a:spLocks noGrp="1"/>
          </p:cNvSpPr>
          <p:nvPr/>
        </p:nvSpPr>
        <p:spPr>
          <a:xfrm>
            <a:off x="8448675" y="3190875"/>
            <a:ext cx="2571750" cy="1066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500" b="0">
                <a:solidFill>
                  <a:srgbClr val="F5F7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F"/>
                </a:solidFill>
                <a:latin typeface="Arial"/>
                <a:ea typeface="Arial"/>
                <a:cs typeface="Arial"/>
              </a:rPr>
              <a:t>Glide</a:t>
            </a:r>
          </a:p>
          <a:p>
            <a:pPr>
              <a:defRPr sz="1500" b="0">
                <a:solidFill>
                  <a:srgbClr val="F5F7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F"/>
                </a:solidFill>
                <a:latin typeface="Arial"/>
                <a:ea typeface="Arial"/>
                <a:cs typeface="Arial"/>
              </a:rPr>
              <a:t>Solana Mobile Wallet Adapter</a:t>
            </a:r>
          </a:p>
          <a:p>
            <a:pPr>
              <a:defRPr sz="1500" b="0">
                <a:solidFill>
                  <a:srgbClr val="F5F7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F"/>
                </a:solidFill>
                <a:latin typeface="Arial"/>
                <a:ea typeface="Arial"/>
                <a:cs typeface="Arial"/>
              </a:rPr>
              <a:t>Solana RPC on Devnet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B18D4FA-C301-46B7-BE2E-E5BEAE970620}"/>
              </a:ext>
            </a:extLst>
          </p:cNvPr>
          <p:cNvSpPr>
            <a:spLocks noGrp="1"/>
          </p:cNvSpPr>
          <p:nvPr/>
        </p:nvSpPr>
        <p:spPr>
          <a:xfrm>
            <a:off x="685800" y="6486525"/>
            <a:ext cx="333375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7500" lnSpcReduction="20000"/>
          </a:bodyPr>
          <a:lstStyle/>
          <a:p>
            <a:pPr>
              <a:defRPr sz="750" b="0">
                <a:solidFill>
                  <a:srgbClr val="A9B5D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9B5D0"/>
                </a:solidFill>
                <a:latin typeface="Arial"/>
                <a:ea typeface="Arial"/>
                <a:cs typeface="Arial"/>
              </a:rPr>
              <a:t>NOVA AI QUEST  |  CLOCK IN 2026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8B0C64D-3529-4FB4-A9E7-FF2C7D5224A4}"/>
              </a:ext>
            </a:extLst>
          </p:cNvPr>
          <p:cNvSpPr>
            <a:spLocks noGrp="1"/>
          </p:cNvSpPr>
          <p:nvPr/>
        </p:nvSpPr>
        <p:spPr>
          <a:xfrm>
            <a:off x="11144250" y="6486525"/>
            <a:ext cx="36195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7500" lnSpcReduction="20000"/>
          </a:bodyPr>
          <a:lstStyle/>
          <a:p>
            <a:pPr>
              <a:defRPr sz="750" b="0">
                <a:solidFill>
                  <a:srgbClr val="A9B5D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9B5D0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5903645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30BA8D08-352A-4667-8417-5F8CCCFC05DA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125" b="1">
                <a:solidFill>
                  <a:srgbClr val="00D8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D8FF"/>
                </a:solidFill>
                <a:latin typeface="Arial"/>
                <a:ea typeface="Arial"/>
                <a:cs typeface="Arial"/>
              </a:rPr>
              <a:t>010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9A430D1-1CE5-44A0-A5FA-C26F80E816E4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1047750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550" b="1">
                <a:solidFill>
                  <a:srgbClr val="F5F7FF"/>
                </a:solidFill>
                <a:latin typeface="Arial"/>
                <a:ea typeface="Arial"/>
                <a:cs typeface="Arial"/>
              </a:defRPr>
            </a:pPr>
            <a:r>
              <a:rPr sz="2550" b="1" dirty="0">
                <a:solidFill>
                  <a:srgbClr val="F5F7FF"/>
                </a:solidFill>
                <a:latin typeface="Arial"/>
                <a:ea typeface="Arial"/>
                <a:cs typeface="Arial"/>
              </a:rPr>
              <a:t>What we built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0DD56D8-DD9C-4A31-A6A8-A6B6320FD993}"/>
              </a:ext>
            </a:extLst>
          </p:cNvPr>
          <p:cNvSpPr>
            <a:spLocks noGrp="1"/>
          </p:cNvSpPr>
          <p:nvPr/>
        </p:nvSpPr>
        <p:spPr>
          <a:xfrm>
            <a:off x="685800" y="1333500"/>
            <a:ext cx="100012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275" b="0">
                <a:solidFill>
                  <a:srgbClr val="A9B5D0"/>
                </a:solidFill>
                <a:latin typeface="Arial"/>
                <a:ea typeface="Arial"/>
                <a:cs typeface="Arial"/>
              </a:defRPr>
            </a:pPr>
            <a:r>
              <a:rPr sz="1275" b="0" dirty="0">
                <a:solidFill>
                  <a:srgbClr val="A9B5D0"/>
                </a:solidFill>
                <a:latin typeface="Arial"/>
                <a:ea typeface="Arial"/>
                <a:cs typeface="Arial"/>
              </a:rPr>
              <a:t>Verified in the current Android prototype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85634A9-C015-4030-9021-3ACE26882975}"/>
              </a:ext>
            </a:extLst>
          </p:cNvPr>
          <p:cNvSpPr>
            <a:spLocks noGrp="1"/>
          </p:cNvSpPr>
          <p:nvPr/>
        </p:nvSpPr>
        <p:spPr>
          <a:xfrm>
            <a:off x="685800" y="2000250"/>
            <a:ext cx="10287000" cy="3333750"/>
          </a:xfrm>
          <a:prstGeom prst="roundRect">
            <a:avLst>
              <a:gd name="adj" fmla="val 2286"/>
            </a:avLst>
          </a:prstGeom>
          <a:solidFill>
            <a:srgbClr val="101629"/>
          </a:solidFill>
          <a:ln w="0">
            <a:noFill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6ECFE79-F980-448F-BAF3-79AD4F44F8E1}"/>
              </a:ext>
            </a:extLst>
          </p:cNvPr>
          <p:cNvSpPr>
            <a:spLocks noGrp="1"/>
          </p:cNvSpPr>
          <p:nvPr/>
        </p:nvSpPr>
        <p:spPr>
          <a:xfrm>
            <a:off x="971550" y="2333625"/>
            <a:ext cx="23812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2273" lnSpcReduction="20000"/>
          </a:bodyPr>
          <a:lstStyle/>
          <a:p>
            <a:pPr>
              <a:defRPr sz="1650" b="1">
                <a:solidFill>
                  <a:srgbClr val="57D4A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7D4A6"/>
                </a:solidFill>
                <a:latin typeface="Arial"/>
                <a:ea typeface="Arial"/>
                <a:cs typeface="Arial"/>
              </a:rPr>
              <a:t>IMPLEMENTED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C690C69-2BAF-450B-A47A-A7710332AEE5}"/>
              </a:ext>
            </a:extLst>
          </p:cNvPr>
          <p:cNvSpPr>
            <a:spLocks noGrp="1"/>
          </p:cNvSpPr>
          <p:nvPr/>
        </p:nvSpPr>
        <p:spPr>
          <a:xfrm>
            <a:off x="1047750" y="2905125"/>
            <a:ext cx="95250" cy="95250"/>
          </a:xfrm>
          <a:prstGeom prst="roundRect">
            <a:avLst>
              <a:gd name="adj" fmla="val 50000"/>
            </a:avLst>
          </a:prstGeom>
          <a:solidFill>
            <a:srgbClr val="00D8FF"/>
          </a:solidFill>
          <a:ln w="0">
            <a:noFill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39580AF-2D0E-4772-AA7A-FCA04D2AA0A4}"/>
              </a:ext>
            </a:extLst>
          </p:cNvPr>
          <p:cNvSpPr>
            <a:spLocks noGrp="1"/>
          </p:cNvSpPr>
          <p:nvPr/>
        </p:nvSpPr>
        <p:spPr>
          <a:xfrm>
            <a:off x="1276350" y="2847975"/>
            <a:ext cx="84391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350" b="0">
                <a:solidFill>
                  <a:srgbClr val="F5F7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5F7FF"/>
                </a:solidFill>
                <a:latin typeface="Arial"/>
                <a:ea typeface="Arial"/>
                <a:cs typeface="Arial"/>
              </a:rPr>
              <a:t>Google authentication and Firestore-backed user data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DD79FC3-1EEF-43FD-95A6-B18DB23B3A77}"/>
              </a:ext>
            </a:extLst>
          </p:cNvPr>
          <p:cNvSpPr>
            <a:spLocks noGrp="1"/>
          </p:cNvSpPr>
          <p:nvPr/>
        </p:nvSpPr>
        <p:spPr>
          <a:xfrm>
            <a:off x="1047750" y="3343275"/>
            <a:ext cx="95250" cy="95250"/>
          </a:xfrm>
          <a:prstGeom prst="roundRect">
            <a:avLst>
              <a:gd name="adj" fmla="val 50000"/>
            </a:avLst>
          </a:prstGeom>
          <a:solidFill>
            <a:srgbClr val="00D8FF"/>
          </a:solidFill>
          <a:ln w="0">
            <a:noFill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6D41FD6-D43E-4106-9996-A3F08FE83101}"/>
              </a:ext>
            </a:extLst>
          </p:cNvPr>
          <p:cNvSpPr>
            <a:spLocks noGrp="1"/>
          </p:cNvSpPr>
          <p:nvPr/>
        </p:nvSpPr>
        <p:spPr>
          <a:xfrm>
            <a:off x="1276350" y="3286125"/>
            <a:ext cx="84391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350" b="0">
                <a:solidFill>
                  <a:srgbClr val="F5F7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5F7FF"/>
                </a:solidFill>
                <a:latin typeface="Arial"/>
                <a:ea typeface="Arial"/>
                <a:cs typeface="Arial"/>
              </a:rPr>
              <a:t>Generated journeys with lessons, quizzes, and challenges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E69E4B9-FFB0-4FFF-B841-D2D277CC72D5}"/>
              </a:ext>
            </a:extLst>
          </p:cNvPr>
          <p:cNvSpPr>
            <a:spLocks noGrp="1"/>
          </p:cNvSpPr>
          <p:nvPr/>
        </p:nvSpPr>
        <p:spPr>
          <a:xfrm>
            <a:off x="1047750" y="3781425"/>
            <a:ext cx="95250" cy="95250"/>
          </a:xfrm>
          <a:prstGeom prst="roundRect">
            <a:avLst>
              <a:gd name="adj" fmla="val 50000"/>
            </a:avLst>
          </a:prstGeom>
          <a:solidFill>
            <a:srgbClr val="00D8FF"/>
          </a:solidFill>
          <a:ln w="0">
            <a:noFill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4C72ECE-462E-4869-9525-7EA8DEBE756B}"/>
              </a:ext>
            </a:extLst>
          </p:cNvPr>
          <p:cNvSpPr>
            <a:spLocks noGrp="1"/>
          </p:cNvSpPr>
          <p:nvPr/>
        </p:nvSpPr>
        <p:spPr>
          <a:xfrm>
            <a:off x="1276350" y="3724275"/>
            <a:ext cx="84391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350" b="0">
                <a:solidFill>
                  <a:srgbClr val="F5F7FF"/>
                </a:solidFill>
                <a:latin typeface="Arial"/>
                <a:ea typeface="Arial"/>
                <a:cs typeface="Arial"/>
              </a:defRPr>
            </a:pPr>
            <a:r>
              <a:rPr sz="1350" b="0" dirty="0">
                <a:solidFill>
                  <a:srgbClr val="F5F7FF"/>
                </a:solidFill>
                <a:latin typeface="Arial"/>
                <a:ea typeface="Arial"/>
                <a:cs typeface="Arial"/>
              </a:rPr>
              <a:t>XP, Coins, levels, achievements, cosmetics, and leaderboard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B6B6035-9627-4147-8F7D-F4A11FF41C9F}"/>
              </a:ext>
            </a:extLst>
          </p:cNvPr>
          <p:cNvSpPr>
            <a:spLocks noGrp="1"/>
          </p:cNvSpPr>
          <p:nvPr/>
        </p:nvSpPr>
        <p:spPr>
          <a:xfrm>
            <a:off x="1047750" y="4219575"/>
            <a:ext cx="95250" cy="95250"/>
          </a:xfrm>
          <a:prstGeom prst="roundRect">
            <a:avLst>
              <a:gd name="adj" fmla="val 50000"/>
            </a:avLst>
          </a:prstGeom>
          <a:solidFill>
            <a:srgbClr val="00D8FF"/>
          </a:solidFill>
          <a:ln w="0">
            <a:noFill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F947396-84E5-4203-8928-DCA69CFD8E47}"/>
              </a:ext>
            </a:extLst>
          </p:cNvPr>
          <p:cNvSpPr>
            <a:spLocks noGrp="1"/>
          </p:cNvSpPr>
          <p:nvPr/>
        </p:nvSpPr>
        <p:spPr>
          <a:xfrm>
            <a:off x="1276350" y="4162425"/>
            <a:ext cx="84391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350" b="0">
                <a:solidFill>
                  <a:srgbClr val="F5F7FF"/>
                </a:solidFill>
                <a:latin typeface="Arial"/>
                <a:ea typeface="Arial"/>
                <a:cs typeface="Arial"/>
              </a:defRPr>
            </a:pPr>
            <a:r>
              <a:rPr sz="1350" b="0" dirty="0">
                <a:solidFill>
                  <a:srgbClr val="F5F7FF"/>
                </a:solidFill>
                <a:latin typeface="Arial"/>
                <a:ea typeface="Arial"/>
                <a:cs typeface="Arial"/>
              </a:rPr>
              <a:t>Wallet-signed Solana </a:t>
            </a:r>
            <a:r>
              <a:rPr sz="1350" b="0" dirty="0" err="1">
                <a:solidFill>
                  <a:srgbClr val="F5F7FF"/>
                </a:solidFill>
                <a:latin typeface="Arial"/>
                <a:ea typeface="Arial"/>
                <a:cs typeface="Arial"/>
              </a:rPr>
              <a:t>Devnet</a:t>
            </a:r>
            <a:r>
              <a:rPr sz="1350" b="0" dirty="0">
                <a:solidFill>
                  <a:srgbClr val="F5F7FF"/>
                </a:solidFill>
                <a:latin typeface="Arial"/>
                <a:ea typeface="Arial"/>
                <a:cs typeface="Arial"/>
              </a:rPr>
              <a:t> verification for achievements, with Explorer links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06F369E-41CC-4529-A834-55312A7D8B28}"/>
              </a:ext>
            </a:extLst>
          </p:cNvPr>
          <p:cNvSpPr>
            <a:spLocks noGrp="1"/>
          </p:cNvSpPr>
          <p:nvPr/>
        </p:nvSpPr>
        <p:spPr>
          <a:xfrm>
            <a:off x="1047750" y="4657725"/>
            <a:ext cx="95250" cy="95250"/>
          </a:xfrm>
          <a:prstGeom prst="roundRect">
            <a:avLst>
              <a:gd name="adj" fmla="val 50000"/>
            </a:avLst>
          </a:prstGeom>
          <a:solidFill>
            <a:srgbClr val="00D8FF"/>
          </a:solidFill>
          <a:ln w="0">
            <a:noFill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811C8CF-D583-4C84-89E9-072C6B9C43FC}"/>
              </a:ext>
            </a:extLst>
          </p:cNvPr>
          <p:cNvSpPr>
            <a:spLocks noGrp="1"/>
          </p:cNvSpPr>
          <p:nvPr/>
        </p:nvSpPr>
        <p:spPr>
          <a:xfrm>
            <a:off x="1276350" y="4600575"/>
            <a:ext cx="84391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350" b="0">
                <a:solidFill>
                  <a:srgbClr val="F5F7FF"/>
                </a:solidFill>
                <a:latin typeface="Arial"/>
                <a:ea typeface="Arial"/>
                <a:cs typeface="Arial"/>
              </a:defRPr>
            </a:pPr>
            <a:r>
              <a:rPr sz="1350" b="0" dirty="0">
                <a:solidFill>
                  <a:srgbClr val="F5F7FF"/>
                </a:solidFill>
                <a:latin typeface="Arial"/>
                <a:ea typeface="Arial"/>
                <a:cs typeface="Arial"/>
              </a:rPr>
              <a:t>Seeker Daily Quest with a once-per-day +5 in-app Coin reward after a qualifying quiz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E0522AA-8120-44CB-9250-D6516C60A14E}"/>
              </a:ext>
            </a:extLst>
          </p:cNvPr>
          <p:cNvSpPr>
            <a:spLocks noGrp="1"/>
          </p:cNvSpPr>
          <p:nvPr/>
        </p:nvSpPr>
        <p:spPr>
          <a:xfrm>
            <a:off x="971550" y="5619750"/>
            <a:ext cx="7239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185"/>
          </a:bodyPr>
          <a:lstStyle/>
          <a:p>
            <a:pPr>
              <a:defRPr sz="1350" b="0">
                <a:solidFill>
                  <a:srgbClr val="A9B5D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5D0"/>
                </a:solidFill>
                <a:latin typeface="Arial"/>
                <a:ea typeface="Arial"/>
                <a:cs typeface="Arial"/>
              </a:rPr>
              <a:t>Current prototype, verified against the project source.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808D1D7-63F8-44E6-AFDC-D21042296B77}"/>
              </a:ext>
            </a:extLst>
          </p:cNvPr>
          <p:cNvSpPr>
            <a:spLocks noGrp="1"/>
          </p:cNvSpPr>
          <p:nvPr/>
        </p:nvSpPr>
        <p:spPr>
          <a:xfrm>
            <a:off x="685800" y="6486525"/>
            <a:ext cx="333375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7500" lnSpcReduction="20000"/>
          </a:bodyPr>
          <a:lstStyle/>
          <a:p>
            <a:pPr>
              <a:defRPr sz="750" b="0">
                <a:solidFill>
                  <a:srgbClr val="A9B5D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9B5D0"/>
                </a:solidFill>
                <a:latin typeface="Arial"/>
                <a:ea typeface="Arial"/>
                <a:cs typeface="Arial"/>
              </a:rPr>
              <a:t>NOVA AI QUEST  |  CLOCK IN 2026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6A5B917-6D63-42AB-AE36-43ADB01E2314}"/>
              </a:ext>
            </a:extLst>
          </p:cNvPr>
          <p:cNvSpPr>
            <a:spLocks noGrp="1"/>
          </p:cNvSpPr>
          <p:nvPr/>
        </p:nvSpPr>
        <p:spPr>
          <a:xfrm>
            <a:off x="11144250" y="6486525"/>
            <a:ext cx="36195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7500" lnSpcReduction="20000"/>
          </a:bodyPr>
          <a:lstStyle/>
          <a:p>
            <a:pPr>
              <a:defRPr sz="750" b="0">
                <a:solidFill>
                  <a:srgbClr val="A9B5D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9B5D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2729836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D4C16D5D-B2A9-481D-99D7-448F05FBCA9B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125" b="1">
                <a:solidFill>
                  <a:srgbClr val="00D8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D8FF"/>
                </a:solidFill>
                <a:latin typeface="Arial"/>
                <a:ea typeface="Arial"/>
                <a:cs typeface="Arial"/>
              </a:rPr>
              <a:t>011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2CE15F6-BC88-4112-A418-9DA46CD1DF34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1047750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550" b="1">
                <a:solidFill>
                  <a:srgbClr val="F5F7FF"/>
                </a:solidFill>
                <a:latin typeface="Arial"/>
                <a:ea typeface="Arial"/>
                <a:cs typeface="Arial"/>
              </a:defRPr>
            </a:pPr>
            <a:r>
              <a:rPr sz="2550" b="1" dirty="0">
                <a:solidFill>
                  <a:srgbClr val="F5F7FF"/>
                </a:solidFill>
                <a:latin typeface="Arial"/>
                <a:ea typeface="Arial"/>
                <a:cs typeface="Arial"/>
              </a:rPr>
              <a:t>Future work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4BEE216-7BF7-408F-BC6E-46D3E357CDD3}"/>
              </a:ext>
            </a:extLst>
          </p:cNvPr>
          <p:cNvSpPr>
            <a:spLocks noGrp="1"/>
          </p:cNvSpPr>
          <p:nvPr/>
        </p:nvSpPr>
        <p:spPr>
          <a:xfrm>
            <a:off x="685800" y="1333500"/>
            <a:ext cx="100012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275" b="0">
                <a:solidFill>
                  <a:srgbClr val="A9B5D0"/>
                </a:solidFill>
                <a:latin typeface="Arial"/>
                <a:ea typeface="Arial"/>
                <a:cs typeface="Arial"/>
              </a:defRPr>
            </a:pPr>
            <a:r>
              <a:rPr sz="1275" b="0" dirty="0">
                <a:solidFill>
                  <a:srgbClr val="A9B5D0"/>
                </a:solidFill>
                <a:latin typeface="Arial"/>
                <a:ea typeface="Arial"/>
                <a:cs typeface="Arial"/>
              </a:rPr>
              <a:t>Possible directions, not current product claims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13A1E3A-75A0-46B7-91CC-E641706EE607}"/>
              </a:ext>
            </a:extLst>
          </p:cNvPr>
          <p:cNvSpPr>
            <a:spLocks noGrp="1"/>
          </p:cNvSpPr>
          <p:nvPr/>
        </p:nvSpPr>
        <p:spPr>
          <a:xfrm>
            <a:off x="1047750" y="23812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00D8FF"/>
          </a:solidFill>
          <a:ln w="0">
            <a:noFill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882FFAD-D3E9-4877-B905-97294763EA01}"/>
              </a:ext>
            </a:extLst>
          </p:cNvPr>
          <p:cNvSpPr>
            <a:spLocks noGrp="1"/>
          </p:cNvSpPr>
          <p:nvPr/>
        </p:nvSpPr>
        <p:spPr>
          <a:xfrm>
            <a:off x="1276350" y="2324100"/>
            <a:ext cx="89154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800" b="0">
                <a:solidFill>
                  <a:srgbClr val="F5F7FF"/>
                </a:solidFill>
                <a:latin typeface="Arial"/>
                <a:ea typeface="Arial"/>
                <a:cs typeface="Arial"/>
              </a:defRPr>
            </a:pPr>
            <a:r>
              <a:rPr sz="1800" b="0" dirty="0">
                <a:solidFill>
                  <a:srgbClr val="F5F7FF"/>
                </a:solidFill>
                <a:latin typeface="Arial"/>
                <a:ea typeface="Arial"/>
                <a:cs typeface="Arial"/>
              </a:rPr>
              <a:t>Richer adaptive learning that responds to learner performance.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E97F7DC-09F3-44EA-BC8A-B57BA61D8D4C}"/>
              </a:ext>
            </a:extLst>
          </p:cNvPr>
          <p:cNvSpPr>
            <a:spLocks noGrp="1"/>
          </p:cNvSpPr>
          <p:nvPr/>
        </p:nvSpPr>
        <p:spPr>
          <a:xfrm>
            <a:off x="1047750" y="30861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00D8FF"/>
          </a:solidFill>
          <a:ln w="0">
            <a:noFill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7C55B3D-D3E7-4A83-B7B2-0EC7CE74F2F2}"/>
              </a:ext>
            </a:extLst>
          </p:cNvPr>
          <p:cNvSpPr>
            <a:spLocks noGrp="1"/>
          </p:cNvSpPr>
          <p:nvPr/>
        </p:nvSpPr>
        <p:spPr>
          <a:xfrm>
            <a:off x="1276350" y="3028950"/>
            <a:ext cx="89154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1748"/>
          </a:bodyPr>
          <a:lstStyle/>
          <a:p>
            <a:pPr>
              <a:defRPr sz="1800" b="0">
                <a:solidFill>
                  <a:srgbClr val="F5F7FF"/>
                </a:solidFill>
                <a:latin typeface="Arial"/>
                <a:ea typeface="Arial"/>
                <a:cs typeface="Arial"/>
              </a:defRPr>
            </a:pPr>
            <a:r>
              <a:rPr sz="1800" b="0" dirty="0">
                <a:solidFill>
                  <a:srgbClr val="F5F7FF"/>
                </a:solidFill>
                <a:latin typeface="Arial"/>
                <a:ea typeface="Arial"/>
                <a:cs typeface="Arial"/>
              </a:rPr>
              <a:t>Deeper Seeker-native experiences beyond the current verification and daily quest flow.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C062BDC-3BCC-402A-A7CF-7501FE83BE26}"/>
              </a:ext>
            </a:extLst>
          </p:cNvPr>
          <p:cNvSpPr>
            <a:spLocks noGrp="1"/>
          </p:cNvSpPr>
          <p:nvPr/>
        </p:nvSpPr>
        <p:spPr>
          <a:xfrm>
            <a:off x="1047750" y="37909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00D8FF"/>
          </a:solidFill>
          <a:ln w="0">
            <a:noFill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5E3628A-8D94-4BEC-A479-74593589A24E}"/>
              </a:ext>
            </a:extLst>
          </p:cNvPr>
          <p:cNvSpPr>
            <a:spLocks noGrp="1"/>
          </p:cNvSpPr>
          <p:nvPr/>
        </p:nvSpPr>
        <p:spPr>
          <a:xfrm>
            <a:off x="1276350" y="3733800"/>
            <a:ext cx="89154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800" b="0">
                <a:solidFill>
                  <a:srgbClr val="F5F7FF"/>
                </a:solidFill>
                <a:latin typeface="Arial"/>
                <a:ea typeface="Arial"/>
                <a:cs typeface="Arial"/>
              </a:defRPr>
            </a:pPr>
            <a:r>
              <a:rPr sz="1800" b="0" dirty="0">
                <a:solidFill>
                  <a:srgbClr val="F5F7FF"/>
                </a:solidFill>
                <a:latin typeface="Arial"/>
                <a:ea typeface="Arial"/>
                <a:cs typeface="Arial"/>
              </a:rPr>
              <a:t>Broader learning content and additional social or community features.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2B5F167-CDDA-426D-83FE-25CF7F128F00}"/>
              </a:ext>
            </a:extLst>
          </p:cNvPr>
          <p:cNvSpPr>
            <a:spLocks noGrp="1"/>
          </p:cNvSpPr>
          <p:nvPr/>
        </p:nvSpPr>
        <p:spPr>
          <a:xfrm>
            <a:off x="1047750" y="44958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00D8FF"/>
          </a:solidFill>
          <a:ln w="0">
            <a:noFill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6878721-CA29-4C53-B201-C1C61A2D0433}"/>
              </a:ext>
            </a:extLst>
          </p:cNvPr>
          <p:cNvSpPr>
            <a:spLocks noGrp="1"/>
          </p:cNvSpPr>
          <p:nvPr/>
        </p:nvSpPr>
        <p:spPr>
          <a:xfrm>
            <a:off x="1276350" y="4438650"/>
            <a:ext cx="89154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800" b="0">
                <a:solidFill>
                  <a:srgbClr val="F5F7FF"/>
                </a:solidFill>
                <a:latin typeface="Arial"/>
                <a:ea typeface="Arial"/>
                <a:cs typeface="Arial"/>
              </a:defRPr>
            </a:pPr>
            <a:r>
              <a:rPr sz="1800" b="0" dirty="0">
                <a:solidFill>
                  <a:srgbClr val="F5F7FF"/>
                </a:solidFill>
                <a:latin typeface="Arial"/>
                <a:ea typeface="Arial"/>
                <a:cs typeface="Arial"/>
              </a:rPr>
              <a:t>Additional on-chain utility, subject to product and technical validation.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13CB7B7-889E-427B-9F86-0806BA8DC42F}"/>
              </a:ext>
            </a:extLst>
          </p:cNvPr>
          <p:cNvSpPr>
            <a:spLocks noGrp="1"/>
          </p:cNvSpPr>
          <p:nvPr/>
        </p:nvSpPr>
        <p:spPr>
          <a:xfrm>
            <a:off x="685800" y="6486525"/>
            <a:ext cx="333375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7500" lnSpcReduction="20000"/>
          </a:bodyPr>
          <a:lstStyle/>
          <a:p>
            <a:pPr>
              <a:defRPr sz="750" b="0">
                <a:solidFill>
                  <a:srgbClr val="A9B5D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9B5D0"/>
                </a:solidFill>
                <a:latin typeface="Arial"/>
                <a:ea typeface="Arial"/>
                <a:cs typeface="Arial"/>
              </a:rPr>
              <a:t>NOVA AI QUEST  |  CLOCK IN 2026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19325CB-29C8-45E4-A418-4CEC7AC126BF}"/>
              </a:ext>
            </a:extLst>
          </p:cNvPr>
          <p:cNvSpPr>
            <a:spLocks noGrp="1"/>
          </p:cNvSpPr>
          <p:nvPr/>
        </p:nvSpPr>
        <p:spPr>
          <a:xfrm>
            <a:off x="11144250" y="6486525"/>
            <a:ext cx="36195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7500" lnSpcReduction="20000"/>
          </a:bodyPr>
          <a:lstStyle/>
          <a:p>
            <a:pPr>
              <a:defRPr sz="750" b="0">
                <a:solidFill>
                  <a:srgbClr val="A9B5D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9B5D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767326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76FBEC-A45D-49B0-884E-22648163051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D8FF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40F6ED8-20E5-4786-919D-D3ACB5765AAA}"/>
              </a:ext>
            </a:extLst>
          </p:cNvPr>
          <p:cNvSpPr>
            <a:spLocks noGrp="1"/>
          </p:cNvSpPr>
          <p:nvPr/>
        </p:nvSpPr>
        <p:spPr>
          <a:xfrm>
            <a:off x="685800" y="1485900"/>
            <a:ext cx="76200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6795" lnSpcReduction="10000"/>
          </a:bodyPr>
          <a:lstStyle/>
          <a:p>
            <a:pPr>
              <a:defRPr sz="3900" b="1">
                <a:solidFill>
                  <a:srgbClr val="F5F7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5F7FF"/>
                </a:solidFill>
                <a:latin typeface="Arial"/>
                <a:ea typeface="Arial"/>
                <a:cs typeface="Arial"/>
              </a:rPr>
              <a:t>NOVA AI QUEST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69A878A-F6F4-4A16-954C-E7A7628FBAFA}"/>
              </a:ext>
            </a:extLst>
          </p:cNvPr>
          <p:cNvSpPr>
            <a:spLocks noGrp="1"/>
          </p:cNvSpPr>
          <p:nvPr/>
        </p:nvSpPr>
        <p:spPr>
          <a:xfrm>
            <a:off x="685800" y="2333625"/>
            <a:ext cx="74295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100" b="0">
                <a:solidFill>
                  <a:srgbClr val="00D8FF"/>
                </a:solidFill>
                <a:latin typeface="Arial"/>
                <a:ea typeface="Arial"/>
                <a:cs typeface="Arial"/>
              </a:defRPr>
            </a:pPr>
            <a:r>
              <a:rPr sz="2100" b="0" dirty="0">
                <a:solidFill>
                  <a:srgbClr val="00D8FF"/>
                </a:solidFill>
                <a:latin typeface="Arial"/>
                <a:ea typeface="Arial"/>
                <a:cs typeface="Arial"/>
              </a:rPr>
              <a:t>From a learning goal to a playable journey.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0BB3518-0CE8-424B-B59F-29829C769D69}"/>
              </a:ext>
            </a:extLst>
          </p:cNvPr>
          <p:cNvSpPr>
            <a:spLocks noGrp="1"/>
          </p:cNvSpPr>
          <p:nvPr/>
        </p:nvSpPr>
        <p:spPr>
          <a:xfrm>
            <a:off x="685800" y="3381375"/>
            <a:ext cx="723900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311" lnSpcReduction="10000"/>
          </a:bodyPr>
          <a:lstStyle/>
          <a:p>
            <a:pPr>
              <a:defRPr sz="1725" b="0">
                <a:solidFill>
                  <a:srgbClr val="F5F7FF"/>
                </a:solidFill>
                <a:latin typeface="Arial"/>
                <a:ea typeface="Arial"/>
                <a:cs typeface="Arial"/>
              </a:defRPr>
            </a:pPr>
            <a:r>
              <a:rPr lang="en-US" dirty="0"/>
              <a:t>A functional Android learning prototype that combines AI-generated learning journeys, game-like progression, on-chain achievement verification, and a Solana </a:t>
            </a:r>
            <a:r>
              <a:rPr lang="en-US" dirty="0" err="1"/>
              <a:t>Devnet</a:t>
            </a:r>
            <a:r>
              <a:rPr lang="en-US" dirty="0"/>
              <a:t> Seeker Daily Quest.</a:t>
            </a:r>
            <a:endParaRPr sz="1725" b="0" dirty="0">
              <a:solidFill>
                <a:srgbClr val="F5F7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CDCEE51-0510-4053-9E85-74A89245B1FE}"/>
              </a:ext>
            </a:extLst>
          </p:cNvPr>
          <p:cNvSpPr>
            <a:spLocks noGrp="1"/>
          </p:cNvSpPr>
          <p:nvPr/>
        </p:nvSpPr>
        <p:spPr>
          <a:xfrm>
            <a:off x="685800" y="4953000"/>
            <a:ext cx="6477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9474" lnSpcReduction="10000"/>
          </a:bodyPr>
          <a:lstStyle/>
          <a:p>
            <a:pPr>
              <a:defRPr sz="1425" b="1">
                <a:solidFill>
                  <a:srgbClr val="57D4A6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7D4A6"/>
                </a:solidFill>
                <a:latin typeface="Arial"/>
                <a:ea typeface="Arial"/>
                <a:cs typeface="Arial"/>
              </a:rPr>
              <a:t>CLOCK IN: Solana Mobile Hackathon 2026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90E499E-E312-4C40-B0E9-B1771908FBEF}"/>
              </a:ext>
            </a:extLst>
          </p:cNvPr>
          <p:cNvSpPr>
            <a:spLocks noGrp="1"/>
          </p:cNvSpPr>
          <p:nvPr/>
        </p:nvSpPr>
        <p:spPr>
          <a:xfrm>
            <a:off x="685800" y="5391150"/>
            <a:ext cx="6667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7696" lnSpcReduction="10000"/>
          </a:bodyPr>
          <a:lstStyle/>
          <a:p>
            <a:pPr>
              <a:defRPr sz="1275" b="0">
                <a:solidFill>
                  <a:srgbClr val="A9B5D0"/>
                </a:solidFill>
                <a:latin typeface="Arial"/>
                <a:ea typeface="Arial"/>
                <a:cs typeface="Arial"/>
              </a:defRPr>
            </a:pPr>
            <a:r>
              <a:rPr sz="1275" b="0" dirty="0">
                <a:solidFill>
                  <a:srgbClr val="A9B5D0"/>
                </a:solidFill>
                <a:latin typeface="Arial"/>
                <a:ea typeface="Arial"/>
                <a:cs typeface="Arial"/>
              </a:rPr>
              <a:t>Functional APK  •  GitHub source  •  Demo video  •  Pitch deck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38E83FB-6021-49F7-95BD-2F8B46605E76}"/>
              </a:ext>
            </a:extLst>
          </p:cNvPr>
          <p:cNvSpPr>
            <a:spLocks noGrp="1"/>
          </p:cNvSpPr>
          <p:nvPr/>
        </p:nvSpPr>
        <p:spPr>
          <a:xfrm>
            <a:off x="8810625" y="1600200"/>
            <a:ext cx="1714500" cy="1714500"/>
          </a:xfrm>
          <a:prstGeom prst="roundRect">
            <a:avLst>
              <a:gd name="adj" fmla="val 4444"/>
            </a:avLst>
          </a:prstGeom>
          <a:solidFill>
            <a:srgbClr val="101629"/>
          </a:solidFill>
          <a:ln w="0">
            <a:noFill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5CEE599-4D75-4B69-ADE6-82DCD941AF91}"/>
              </a:ext>
            </a:extLst>
          </p:cNvPr>
          <p:cNvSpPr>
            <a:spLocks noGrp="1"/>
          </p:cNvSpPr>
          <p:nvPr/>
        </p:nvSpPr>
        <p:spPr>
          <a:xfrm>
            <a:off x="685800" y="6486525"/>
            <a:ext cx="333375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7500" lnSpcReduction="20000"/>
          </a:bodyPr>
          <a:lstStyle/>
          <a:p>
            <a:pPr>
              <a:defRPr sz="750" b="0">
                <a:solidFill>
                  <a:srgbClr val="A9B5D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9B5D0"/>
                </a:solidFill>
                <a:latin typeface="Arial"/>
                <a:ea typeface="Arial"/>
                <a:cs typeface="Arial"/>
              </a:rPr>
              <a:t>NOVA AI QUEST  |  CLOCK IN 2026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1FD1A00-9856-4AA3-97F8-CB18B2533FC0}"/>
              </a:ext>
            </a:extLst>
          </p:cNvPr>
          <p:cNvSpPr>
            <a:spLocks noGrp="1"/>
          </p:cNvSpPr>
          <p:nvPr/>
        </p:nvSpPr>
        <p:spPr>
          <a:xfrm>
            <a:off x="11144250" y="6486525"/>
            <a:ext cx="36195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7500" lnSpcReduction="20000"/>
          </a:bodyPr>
          <a:lstStyle/>
          <a:p>
            <a:pPr>
              <a:defRPr sz="750" b="0">
                <a:solidFill>
                  <a:srgbClr val="A9B5D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9B5D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91E5342-C7D9-B861-8288-95DAB256B1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9971" y="1466696"/>
            <a:ext cx="2095808" cy="2095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985988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1118</Words>
  <Application>Microsoft Office PowerPoint</Application>
  <DocSecurity>0</DocSecurity>
  <PresentationFormat>Widescreen</PresentationFormat>
  <Paragraphs>179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belarbi boumediene</cp:lastModifiedBy>
  <cp:revision>22</cp:revision>
  <dcterms:created xsi:type="dcterms:W3CDTF">2026-10-01T15:27:34Z</dcterms:created>
  <dcterms:modified xsi:type="dcterms:W3CDTF">2026-10-02T12:35:03Z</dcterms:modified>
</cp:coreProperties>
</file>